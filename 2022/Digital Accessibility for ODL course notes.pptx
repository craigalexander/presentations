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6" r:id="rId3"/>
    <p:sldId id="258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7" r:id="rId14"/>
    <p:sldId id="270" r:id="rId15"/>
    <p:sldId id="271" r:id="rId16"/>
    <p:sldId id="273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F63B2F-2444-594F-BFD2-A9031E26D9F4}" v="39" dt="2022-08-30T15:13:43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3"/>
  </p:normalViewPr>
  <p:slideViewPr>
    <p:cSldViewPr snapToGrid="0">
      <p:cViewPr varScale="1">
        <p:scale>
          <a:sx n="101" d="100"/>
          <a:sy n="101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Alexander" userId="cbab3422-1701-47c9-a4f0-14c0d221c31a" providerId="ADAL" clId="{ADF63B2F-2444-594F-BFD2-A9031E26D9F4}"/>
    <pc:docChg chg="custSel delSld modSld">
      <pc:chgData name="Craig Alexander" userId="cbab3422-1701-47c9-a4f0-14c0d221c31a" providerId="ADAL" clId="{ADF63B2F-2444-594F-BFD2-A9031E26D9F4}" dt="2022-08-31T16:34:18.226" v="61" actId="255"/>
      <pc:docMkLst>
        <pc:docMk/>
      </pc:docMkLst>
      <pc:sldChg chg="modSp mod">
        <pc:chgData name="Craig Alexander" userId="cbab3422-1701-47c9-a4f0-14c0d221c31a" providerId="ADAL" clId="{ADF63B2F-2444-594F-BFD2-A9031E26D9F4}" dt="2022-08-30T15:13:43.730" v="0" actId="313"/>
        <pc:sldMkLst>
          <pc:docMk/>
          <pc:sldMk cId="1376347763" sldId="256"/>
        </pc:sldMkLst>
        <pc:spChg chg="mod">
          <ac:chgData name="Craig Alexander" userId="cbab3422-1701-47c9-a4f0-14c0d221c31a" providerId="ADAL" clId="{ADF63B2F-2444-594F-BFD2-A9031E26D9F4}" dt="2022-08-30T15:13:43.730" v="0" actId="313"/>
          <ac:spMkLst>
            <pc:docMk/>
            <pc:sldMk cId="1376347763" sldId="256"/>
            <ac:spMk id="2" creationId="{BD299FAD-1A58-5F0A-6277-6447C13CBAF2}"/>
          </ac:spMkLst>
        </pc:spChg>
      </pc:sldChg>
      <pc:sldChg chg="modSp mod">
        <pc:chgData name="Craig Alexander" userId="cbab3422-1701-47c9-a4f0-14c0d221c31a" providerId="ADAL" clId="{ADF63B2F-2444-594F-BFD2-A9031E26D9F4}" dt="2022-08-31T16:27:02.885" v="5" actId="20577"/>
        <pc:sldMkLst>
          <pc:docMk/>
          <pc:sldMk cId="2280224747" sldId="258"/>
        </pc:sldMkLst>
        <pc:spChg chg="mod">
          <ac:chgData name="Craig Alexander" userId="cbab3422-1701-47c9-a4f0-14c0d221c31a" providerId="ADAL" clId="{ADF63B2F-2444-594F-BFD2-A9031E26D9F4}" dt="2022-08-31T16:27:02.885" v="5" actId="20577"/>
          <ac:spMkLst>
            <pc:docMk/>
            <pc:sldMk cId="2280224747" sldId="258"/>
            <ac:spMk id="3" creationId="{3AE8A93E-27F4-1742-6C8B-E4C47806C278}"/>
          </ac:spMkLst>
        </pc:spChg>
      </pc:sldChg>
      <pc:sldChg chg="modSp mod">
        <pc:chgData name="Craig Alexander" userId="cbab3422-1701-47c9-a4f0-14c0d221c31a" providerId="ADAL" clId="{ADF63B2F-2444-594F-BFD2-A9031E26D9F4}" dt="2022-08-31T16:28:15.230" v="14" actId="20577"/>
        <pc:sldMkLst>
          <pc:docMk/>
          <pc:sldMk cId="1053634146" sldId="261"/>
        </pc:sldMkLst>
        <pc:spChg chg="mod">
          <ac:chgData name="Craig Alexander" userId="cbab3422-1701-47c9-a4f0-14c0d221c31a" providerId="ADAL" clId="{ADF63B2F-2444-594F-BFD2-A9031E26D9F4}" dt="2022-08-31T16:28:15.230" v="14" actId="20577"/>
          <ac:spMkLst>
            <pc:docMk/>
            <pc:sldMk cId="1053634146" sldId="261"/>
            <ac:spMk id="3" creationId="{411EE78E-119B-A48D-F55D-BF66A2494C54}"/>
          </ac:spMkLst>
        </pc:spChg>
      </pc:sldChg>
      <pc:sldChg chg="del">
        <pc:chgData name="Craig Alexander" userId="cbab3422-1701-47c9-a4f0-14c0d221c31a" providerId="ADAL" clId="{ADF63B2F-2444-594F-BFD2-A9031E26D9F4}" dt="2022-08-31T16:28:31.077" v="15" actId="2696"/>
        <pc:sldMkLst>
          <pc:docMk/>
          <pc:sldMk cId="364200640" sldId="262"/>
        </pc:sldMkLst>
      </pc:sldChg>
      <pc:sldChg chg="modSp mod">
        <pc:chgData name="Craig Alexander" userId="cbab3422-1701-47c9-a4f0-14c0d221c31a" providerId="ADAL" clId="{ADF63B2F-2444-594F-BFD2-A9031E26D9F4}" dt="2022-08-31T16:31:47.505" v="46" actId="27636"/>
        <pc:sldMkLst>
          <pc:docMk/>
          <pc:sldMk cId="2768814353" sldId="263"/>
        </pc:sldMkLst>
        <pc:spChg chg="mod">
          <ac:chgData name="Craig Alexander" userId="cbab3422-1701-47c9-a4f0-14c0d221c31a" providerId="ADAL" clId="{ADF63B2F-2444-594F-BFD2-A9031E26D9F4}" dt="2022-08-31T16:31:47.505" v="46" actId="27636"/>
          <ac:spMkLst>
            <pc:docMk/>
            <pc:sldMk cId="2768814353" sldId="263"/>
            <ac:spMk id="3" creationId="{87072473-2B3C-A9FB-C61D-92688D306BE7}"/>
          </ac:spMkLst>
        </pc:spChg>
      </pc:sldChg>
      <pc:sldChg chg="modSp mod">
        <pc:chgData name="Craig Alexander" userId="cbab3422-1701-47c9-a4f0-14c0d221c31a" providerId="ADAL" clId="{ADF63B2F-2444-594F-BFD2-A9031E26D9F4}" dt="2022-08-31T16:31:57.213" v="47" actId="1076"/>
        <pc:sldMkLst>
          <pc:docMk/>
          <pc:sldMk cId="3288161075" sldId="264"/>
        </pc:sldMkLst>
        <pc:spChg chg="mod">
          <ac:chgData name="Craig Alexander" userId="cbab3422-1701-47c9-a4f0-14c0d221c31a" providerId="ADAL" clId="{ADF63B2F-2444-594F-BFD2-A9031E26D9F4}" dt="2022-08-31T16:31:57.213" v="47" actId="1076"/>
          <ac:spMkLst>
            <pc:docMk/>
            <pc:sldMk cId="3288161075" sldId="264"/>
            <ac:spMk id="3" creationId="{87072473-2B3C-A9FB-C61D-92688D306BE7}"/>
          </ac:spMkLst>
        </pc:spChg>
      </pc:sldChg>
      <pc:sldChg chg="modSp mod">
        <pc:chgData name="Craig Alexander" userId="cbab3422-1701-47c9-a4f0-14c0d221c31a" providerId="ADAL" clId="{ADF63B2F-2444-594F-BFD2-A9031E26D9F4}" dt="2022-08-31T16:31:04.111" v="34" actId="255"/>
        <pc:sldMkLst>
          <pc:docMk/>
          <pc:sldMk cId="2879356640" sldId="269"/>
        </pc:sldMkLst>
        <pc:spChg chg="mod">
          <ac:chgData name="Craig Alexander" userId="cbab3422-1701-47c9-a4f0-14c0d221c31a" providerId="ADAL" clId="{ADF63B2F-2444-594F-BFD2-A9031E26D9F4}" dt="2022-08-31T16:31:04.111" v="34" actId="255"/>
          <ac:spMkLst>
            <pc:docMk/>
            <pc:sldMk cId="2879356640" sldId="269"/>
            <ac:spMk id="3" creationId="{CB740C7F-D13C-1C21-75A6-769FCDE35E7C}"/>
          </ac:spMkLst>
        </pc:spChg>
      </pc:sldChg>
      <pc:sldChg chg="modSp mod">
        <pc:chgData name="Craig Alexander" userId="cbab3422-1701-47c9-a4f0-14c0d221c31a" providerId="ADAL" clId="{ADF63B2F-2444-594F-BFD2-A9031E26D9F4}" dt="2022-08-31T16:33:27.452" v="57" actId="255"/>
        <pc:sldMkLst>
          <pc:docMk/>
          <pc:sldMk cId="257101642" sldId="270"/>
        </pc:sldMkLst>
        <pc:spChg chg="mod">
          <ac:chgData name="Craig Alexander" userId="cbab3422-1701-47c9-a4f0-14c0d221c31a" providerId="ADAL" clId="{ADF63B2F-2444-594F-BFD2-A9031E26D9F4}" dt="2022-08-31T16:33:27.452" v="57" actId="255"/>
          <ac:spMkLst>
            <pc:docMk/>
            <pc:sldMk cId="257101642" sldId="270"/>
            <ac:spMk id="3" creationId="{DBD0EAD6-A310-9417-839D-1C7F822CD659}"/>
          </ac:spMkLst>
        </pc:spChg>
      </pc:sldChg>
      <pc:sldChg chg="modSp mod">
        <pc:chgData name="Craig Alexander" userId="cbab3422-1701-47c9-a4f0-14c0d221c31a" providerId="ADAL" clId="{ADF63B2F-2444-594F-BFD2-A9031E26D9F4}" dt="2022-08-31T16:34:11.161" v="60" actId="255"/>
        <pc:sldMkLst>
          <pc:docMk/>
          <pc:sldMk cId="2505971960" sldId="271"/>
        </pc:sldMkLst>
        <pc:spChg chg="mod">
          <ac:chgData name="Craig Alexander" userId="cbab3422-1701-47c9-a4f0-14c0d221c31a" providerId="ADAL" clId="{ADF63B2F-2444-594F-BFD2-A9031E26D9F4}" dt="2022-08-31T16:34:11.161" v="60" actId="255"/>
          <ac:spMkLst>
            <pc:docMk/>
            <pc:sldMk cId="2505971960" sldId="271"/>
            <ac:spMk id="3" creationId="{DBD0EAD6-A310-9417-839D-1C7F822CD659}"/>
          </ac:spMkLst>
        </pc:spChg>
      </pc:sldChg>
      <pc:sldChg chg="modSp mod">
        <pc:chgData name="Craig Alexander" userId="cbab3422-1701-47c9-a4f0-14c0d221c31a" providerId="ADAL" clId="{ADF63B2F-2444-594F-BFD2-A9031E26D9F4}" dt="2022-08-31T16:34:18.226" v="61" actId="255"/>
        <pc:sldMkLst>
          <pc:docMk/>
          <pc:sldMk cId="2757844503" sldId="273"/>
        </pc:sldMkLst>
        <pc:spChg chg="mod">
          <ac:chgData name="Craig Alexander" userId="cbab3422-1701-47c9-a4f0-14c0d221c31a" providerId="ADAL" clId="{ADF63B2F-2444-594F-BFD2-A9031E26D9F4}" dt="2022-08-31T16:34:18.226" v="61" actId="255"/>
          <ac:spMkLst>
            <pc:docMk/>
            <pc:sldMk cId="2757844503" sldId="273"/>
            <ac:spMk id="3" creationId="{DBD0EAD6-A310-9417-839D-1C7F822CD659}"/>
          </ac:spMkLst>
        </pc:spChg>
      </pc:sldChg>
      <pc:sldChg chg="modSp mod">
        <pc:chgData name="Craig Alexander" userId="cbab3422-1701-47c9-a4f0-14c0d221c31a" providerId="ADAL" clId="{ADF63B2F-2444-594F-BFD2-A9031E26D9F4}" dt="2022-08-31T16:32:12.985" v="48" actId="255"/>
        <pc:sldMkLst>
          <pc:docMk/>
          <pc:sldMk cId="3387424729" sldId="276"/>
        </pc:sldMkLst>
        <pc:spChg chg="mod">
          <ac:chgData name="Craig Alexander" userId="cbab3422-1701-47c9-a4f0-14c0d221c31a" providerId="ADAL" clId="{ADF63B2F-2444-594F-BFD2-A9031E26D9F4}" dt="2022-08-31T16:32:12.985" v="48" actId="255"/>
          <ac:spMkLst>
            <pc:docMk/>
            <pc:sldMk cId="3387424729" sldId="276"/>
            <ac:spMk id="3" creationId="{94744171-025C-D8A2-CAA6-08F9E5E619ED}"/>
          </ac:spMkLst>
        </pc:spChg>
      </pc:sldChg>
      <pc:sldChg chg="modSp mod">
        <pc:chgData name="Craig Alexander" userId="cbab3422-1701-47c9-a4f0-14c0d221c31a" providerId="ADAL" clId="{ADF63B2F-2444-594F-BFD2-A9031E26D9F4}" dt="2022-08-31T16:32:36.566" v="51" actId="113"/>
        <pc:sldMkLst>
          <pc:docMk/>
          <pc:sldMk cId="1454477504" sldId="277"/>
        </pc:sldMkLst>
        <pc:spChg chg="mod">
          <ac:chgData name="Craig Alexander" userId="cbab3422-1701-47c9-a4f0-14c0d221c31a" providerId="ADAL" clId="{ADF63B2F-2444-594F-BFD2-A9031E26D9F4}" dt="2022-08-31T16:32:36.566" v="51" actId="113"/>
          <ac:spMkLst>
            <pc:docMk/>
            <pc:sldMk cId="1454477504" sldId="277"/>
            <ac:spMk id="3" creationId="{9A4FBC77-5226-9FE1-7A3F-90D48B8EBA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8/31/22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16DCFC9-6877-407C-8170-608FCB8E3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F7D8B73A-1349-4BA6-8F85-03A21ED56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969ADA7C-B6B2-4FD7-AA5E-CC52AAE8C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6="http://schemas.microsoft.com/office/drawing/2014/main" xmlns:a14="http://schemas.microsoft.com/office/drawing/2010/main" xmlns:p14="http://schemas.microsoft.com/office/powerpoint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461629F-3068-49C9-E960-F5172E7B48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17389" b="5269"/>
          <a:stretch/>
        </p:blipFill>
        <p:spPr>
          <a:xfrm>
            <a:off x="3611" y="7678"/>
            <a:ext cx="12188389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353FE7-0D03-4AD2-8B8A-60A06F6BD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" name="Round Diagonal Corner Rectangle 7">
              <a:extLst>
                <a:ext uri="{FF2B5EF4-FFF2-40B4-BE49-F238E27FC236}">
                  <a16:creationId xmlns:a16="http://schemas.microsoft.com/office/drawing/2014/main" id="{0C7A0320-FBCC-4F40-AF6E-CE65FFB3D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50A26E4-02C9-4F83-A334-0920B8CCF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06617CD6-4185-402B-8E23-BC5278053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2C305CC9-3511-47F4-BF11-BC635C30C9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5C70C5D1-31E4-48B9-AEB6-6460A2B81F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1F033CE1-D380-43F1-81EC-97B6C86F39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6997F95D-DC27-48A3-850A-2308C3C080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569AE469-76B7-4FFE-B68B-0D7A77413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DD99CF64-0E82-4D1A-BD2A-08942182F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98C12D33-1747-4B24-89ED-F441AE4A0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A60200CC-BAEC-4310-8C9B-F7BB783E98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2A7F40BF-B0BE-4B09-87EE-F56632B7ED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353978AF-8FB9-4A61-A2EA-1995A14F39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id="{B20F89C3-4BAD-42AA-8D31-6F6DF17FE9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A60FE276-3FF2-4622-BF99-D4E4B249E5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B05A0D3F-808B-48D6-A821-1FE9E86E8C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69F7D438-BAA0-4DAD-9BC5-198B677A7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id="{EC63B186-43B8-4552-AFDB-A544240A7C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8542E82D-01AD-4BD8-8C5F-A6CDAD039B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6285CF32-2BD3-47D0-9A6C-3EE7FD639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id="{FA36D129-7B33-4379-B9EE-5624B95766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0229A187-4E69-4262-B001-C5F0B5522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299FAD-1A58-5F0A-6277-6447C13CB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Digital Accessibility for ODL course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105FD-3906-1289-E2AF-5AA37F254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/>
              <a:t>David McArthur, Craig Alexander, Colette Mair &amp; Eilidh Jack</a:t>
            </a:r>
          </a:p>
        </p:txBody>
      </p:sp>
    </p:spTree>
    <p:extLst>
      <p:ext uri="{BB962C8B-B14F-4D97-AF65-F5344CB8AC3E}">
        <p14:creationId xmlns:p14="http://schemas.microsoft.com/office/powerpoint/2010/main" val="1376347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20F-5872-DEAC-061D-107827C66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materials for ODL – the past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44171-025C-D8A2-CAA6-08F9E5E61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5270146" cy="4142393"/>
          </a:xfrm>
        </p:spPr>
        <p:txBody>
          <a:bodyPr>
            <a:normAutofit/>
          </a:bodyPr>
          <a:lstStyle/>
          <a:p>
            <a:endParaRPr lang="en-GB" sz="2200" dirty="0"/>
          </a:p>
          <a:p>
            <a:pPr lvl="1"/>
            <a:r>
              <a:rPr lang="en-GB" sz="2200" b="1" dirty="0"/>
              <a:t>Asynchronous content presented within PDF format.</a:t>
            </a:r>
          </a:p>
          <a:p>
            <a:pPr marL="457200" lvl="1" indent="0">
              <a:buNone/>
            </a:pPr>
            <a:endParaRPr lang="en-GB" sz="2200" b="1" dirty="0"/>
          </a:p>
          <a:p>
            <a:pPr lvl="1"/>
            <a:r>
              <a:rPr lang="en-GB" sz="2200" b="1" dirty="0"/>
              <a:t>Notes embedded with online Khan-style tutorials and tasks.</a:t>
            </a:r>
            <a:br>
              <a:rPr lang="en-GB" sz="2200" b="1" dirty="0"/>
            </a:br>
            <a:endParaRPr lang="en-GB" sz="2200" dirty="0"/>
          </a:p>
          <a:p>
            <a:pPr lvl="1"/>
            <a:r>
              <a:rPr lang="en-GB" sz="2200" b="1" dirty="0"/>
              <a:t>Older versions of the notes did not include any accessible features.</a:t>
            </a:r>
          </a:p>
          <a:p>
            <a:pPr marL="457200" lvl="1" indent="0">
              <a:buNone/>
            </a:pPr>
            <a:endParaRPr lang="en-GB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5BE7B-B411-335E-2DF5-9576D122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979" y="2485068"/>
            <a:ext cx="4403564" cy="336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2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094D-4EC2-0EB7-CB3E-56B419F69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materials for </a:t>
            </a:r>
            <a:r>
              <a:rPr lang="en-US" err="1"/>
              <a:t>odl</a:t>
            </a:r>
            <a:r>
              <a:rPr lang="en-US"/>
              <a:t> – the 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8A93E-27F4-1742-6C8B-E4C47806C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In order to meet the Public Sector Bodies Accessibility Regulations, the format of our course materials had to be updated:</a:t>
            </a:r>
            <a:endParaRPr lang="en-GB" dirty="0"/>
          </a:p>
          <a:p>
            <a:endParaRPr lang="en-GB" dirty="0"/>
          </a:p>
          <a:p>
            <a:pPr lvl="1"/>
            <a:r>
              <a:rPr lang="en-GB" b="1" dirty="0"/>
              <a:t>Developed by ODL full stack web developer David McArthur.</a:t>
            </a:r>
            <a:br>
              <a:rPr lang="en-GB" b="1" dirty="0"/>
            </a:br>
            <a:endParaRPr lang="en-GB" dirty="0"/>
          </a:p>
          <a:p>
            <a:pPr lvl="1"/>
            <a:r>
              <a:rPr lang="en-GB" b="1" dirty="0"/>
              <a:t>Motivation to create accessible notes that do not just pass accessibility tests but cater for a variety of physical and cognitive disabilities. </a:t>
            </a:r>
            <a:br>
              <a:rPr lang="en-GB" b="1" dirty="0"/>
            </a:br>
            <a:endParaRPr lang="en-GB" dirty="0"/>
          </a:p>
          <a:p>
            <a:pPr lvl="1"/>
            <a:r>
              <a:rPr lang="en-GB" b="1" dirty="0"/>
              <a:t>Accessibility features can help everyone, from feedback, some students like to study on the go using mobile devices, using dark mode for viewing. 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22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EF82-15CF-18AD-7C18-F53B5FA0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E78E-119B-A48D-F55D-BF66A2494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/>
              <a:t>Holistic approach, build accessibility in from the start:</a:t>
            </a:r>
            <a:endParaRPr lang="en-GB"/>
          </a:p>
          <a:p>
            <a:endParaRPr lang="en-GB"/>
          </a:p>
          <a:p>
            <a:pPr lvl="1"/>
            <a:r>
              <a:rPr lang="en-GB" b="1"/>
              <a:t>Create features that are thoughtful, concentrate on simplicity instead of passing accessibility tests</a:t>
            </a:r>
            <a:br>
              <a:rPr lang="en-GB" b="1"/>
            </a:br>
            <a:endParaRPr lang="en-GB"/>
          </a:p>
          <a:p>
            <a:pPr lvl="1"/>
            <a:r>
              <a:rPr lang="en-GB" b="1"/>
              <a:t>Create features that can be useful for everyone— features that are widely used will be actively maintained and improved</a:t>
            </a:r>
            <a:br>
              <a:rPr lang="en-GB" b="1"/>
            </a:br>
            <a:endParaRPr lang="en-GB"/>
          </a:p>
          <a:p>
            <a:pPr lvl="1"/>
            <a:r>
              <a:rPr lang="en-GB" b="1"/>
              <a:t>Provide options rather than one-size-fits-all</a:t>
            </a:r>
            <a:endParaRPr lang="en-GB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38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EF82-15CF-18AD-7C18-F53B5FA0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E78E-119B-A48D-F55D-BF66A2494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HTML &gt; PDF for accessibility: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b="1" dirty="0"/>
              <a:t>Wide selection of accessibility tools designed for HTML that work on all major platforms and devices.</a:t>
            </a:r>
            <a:br>
              <a:rPr lang="en-GB" b="1" dirty="0"/>
            </a:br>
            <a:endParaRPr lang="en-GB" dirty="0"/>
          </a:p>
          <a:p>
            <a:pPr lvl="1"/>
            <a:r>
              <a:rPr lang="en-GB" b="1" dirty="0"/>
              <a:t>Responsive - HTML can adapt to different sized screens to provide the clearest layout.</a:t>
            </a:r>
            <a:br>
              <a:rPr lang="en-GB" b="1" dirty="0"/>
            </a:br>
            <a:endParaRPr lang="en-GB" dirty="0"/>
          </a:p>
          <a:p>
            <a:pPr lvl="1"/>
            <a:r>
              <a:rPr lang="en-GB" b="1" dirty="0"/>
              <a:t>Opens the door to richer experiences such as interactivity and animation.</a:t>
            </a:r>
            <a:br>
              <a:rPr lang="en-GB" b="1" dirty="0"/>
            </a:br>
            <a:endParaRPr lang="en-GB" dirty="0"/>
          </a:p>
          <a:p>
            <a:pPr lvl="1"/>
            <a:r>
              <a:rPr lang="en-GB" b="1" dirty="0"/>
              <a:t>It’s possible to provide an accessible PDF derived from accessible HTML.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634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A537-D7C6-37FA-4FEC-43A25FC6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html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72473-2B3C-A9FB-C61D-92688D306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93900"/>
            <a:ext cx="9905999" cy="42455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dirty="0"/>
          </a:p>
          <a:p>
            <a:pPr lvl="1"/>
            <a:r>
              <a:rPr lang="en-GB" sz="2200" b="1" dirty="0"/>
              <a:t>Self-contained - as portable as a PDF file and can be opened with any web browser.</a:t>
            </a:r>
            <a:br>
              <a:rPr lang="en-GB" sz="2200" dirty="0"/>
            </a:br>
            <a:endParaRPr lang="en-GB" sz="2200" dirty="0"/>
          </a:p>
          <a:p>
            <a:pPr lvl="1"/>
            <a:r>
              <a:rPr lang="en-GB" sz="2200" b="1" dirty="0"/>
              <a:t>Simple and distraction-free design.</a:t>
            </a:r>
            <a:br>
              <a:rPr lang="en-GB" sz="2200" b="1" dirty="0"/>
            </a:br>
            <a:endParaRPr lang="en-GB" sz="2200" dirty="0"/>
          </a:p>
          <a:p>
            <a:pPr lvl="1"/>
            <a:r>
              <a:rPr lang="en-GB" sz="2200" b="1" dirty="0"/>
              <a:t>Sidebar with Table of Contents to facilitate easy navigation.</a:t>
            </a:r>
            <a:br>
              <a:rPr lang="en-GB" sz="2200" b="1" dirty="0"/>
            </a:br>
            <a:endParaRPr lang="en-GB" sz="2200" dirty="0"/>
          </a:p>
          <a:p>
            <a:pPr lvl="1"/>
            <a:r>
              <a:rPr lang="en-GB" sz="2200" b="1" dirty="0"/>
              <a:t>A View Options pane allowing the user to change colour, spacing and sizes of the page content.</a:t>
            </a:r>
            <a:endParaRPr lang="en-GB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1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A537-D7C6-37FA-4FEC-43A25FC6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html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72473-2B3C-A9FB-C61D-92688D306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9899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lvl="1"/>
            <a:r>
              <a:rPr lang="en-GB" sz="2400" b="1" dirty="0"/>
              <a:t>Responsive— adapt from the smallest mobile screens to largest desktop screens.</a:t>
            </a:r>
            <a:br>
              <a:rPr lang="en-GB" sz="2400" dirty="0"/>
            </a:br>
            <a:endParaRPr lang="en-GB" sz="2400" dirty="0"/>
          </a:p>
          <a:p>
            <a:pPr lvl="1"/>
            <a:r>
              <a:rPr lang="en-GB" sz="2400" b="1" dirty="0"/>
              <a:t>Answers next to tasks to avoid excessive scrolling.</a:t>
            </a:r>
            <a:br>
              <a:rPr lang="en-GB" sz="2400" b="1" dirty="0"/>
            </a:br>
            <a:endParaRPr lang="en-GB" sz="2400" dirty="0"/>
          </a:p>
          <a:p>
            <a:pPr lvl="1"/>
            <a:r>
              <a:rPr lang="en-GB" sz="2400" b="1" dirty="0"/>
              <a:t>Use Scalable Vector Graphics wherever possible to ensure graphics look crisp and in focus even when zoomed in.</a:t>
            </a:r>
            <a:br>
              <a:rPr lang="en-GB" sz="2400" b="1" dirty="0"/>
            </a:br>
            <a:endParaRPr lang="en-GB" sz="2400" dirty="0"/>
          </a:p>
          <a:p>
            <a:pPr lvl="1"/>
            <a:r>
              <a:rPr lang="en-GB" sz="2400" b="1" dirty="0"/>
              <a:t>Follow best practices for creating semantic, accessible HTML code.</a:t>
            </a:r>
            <a:endParaRPr lang="en-GB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61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6E55-3638-0729-0197-38540D25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Accessible latex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E94C-A2D3-436A-AEA6-9FC6D09D8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/>
              <a:t>Convert LaTeX code to MathML using </a:t>
            </a:r>
            <a:r>
              <a:rPr lang="en-GB" b="1" err="1"/>
              <a:t>MathJax</a:t>
            </a:r>
            <a:endParaRPr lang="en-GB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08325-65FF-CCF9-5418-FCBAE600F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511" y="3474244"/>
            <a:ext cx="1447800" cy="1092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B1D727-D18C-D0C2-2D83-A66CC594599D}"/>
              </a:ext>
            </a:extLst>
          </p:cNvPr>
          <p:cNvSpPr txBox="1"/>
          <p:nvPr/>
        </p:nvSpPr>
        <p:spPr>
          <a:xfrm>
            <a:off x="1594289" y="3802970"/>
            <a:ext cx="3323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y = x\beta+\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varepsilon</a:t>
            </a:r>
            <a:endParaRPr lang="en-GB">
              <a:solidFill>
                <a:srgbClr val="FFFFFF"/>
              </a:solidFill>
              <a:latin typeface="FiraCode Nerd Font Mono" panose="020B0809050000020004" pitchFamily="49" charset="0"/>
            </a:endParaRP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3C27F-6901-91B0-2E45-330CF43350B1}"/>
              </a:ext>
            </a:extLst>
          </p:cNvPr>
          <p:cNvSpPr txBox="1"/>
          <p:nvPr/>
        </p:nvSpPr>
        <p:spPr>
          <a:xfrm>
            <a:off x="7556522" y="3046339"/>
            <a:ext cx="275267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&lt;math&gt;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&lt;mi&gt;y&lt;/mi&gt;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&gt;=&lt;/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&lt;mi&gt;x&lt;/mi&gt;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&lt;mi&gt;&amp;#x3B2;&lt;/mi&gt;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&gt;+&lt;/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&lt;mi&gt;&amp;#x3B5;&lt;/mi&gt;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&lt;/math&gt;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93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6E55-3638-0729-0197-38540D25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Accessible latex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E94C-A2D3-436A-AEA6-9FC6D09D8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/>
              <a:t>Convert MathML to speech with Speech Rule Engine</a:t>
            </a:r>
            <a:endParaRPr lang="en-GB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08325-65FF-CCF9-5418-FCBAE600F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511" y="3474244"/>
            <a:ext cx="1447800" cy="1092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B1D727-D18C-D0C2-2D83-A66CC594599D}"/>
              </a:ext>
            </a:extLst>
          </p:cNvPr>
          <p:cNvSpPr txBox="1"/>
          <p:nvPr/>
        </p:nvSpPr>
        <p:spPr>
          <a:xfrm>
            <a:off x="1753946" y="3046338"/>
            <a:ext cx="275267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&lt;math&gt;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&lt;mi&gt;y&lt;/mi&gt;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&gt;=&lt;/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&lt;mi&gt;x&lt;/mi&gt;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&lt;mi&gt;&amp;#x3B2;&lt;/mi&gt;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&gt;+&lt;/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&lt;mi&gt;&amp;#x3B5;&lt;/mi&gt;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&lt;/math&gt;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3C27F-6901-91B0-2E45-330CF43350B1}"/>
              </a:ext>
            </a:extLst>
          </p:cNvPr>
          <p:cNvSpPr txBox="1"/>
          <p:nvPr/>
        </p:nvSpPr>
        <p:spPr>
          <a:xfrm>
            <a:off x="7300006" y="3920113"/>
            <a:ext cx="4179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Y equals x beta plus epsilon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4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6E55-3638-0729-0197-38540D25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Accessible latex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E94C-A2D3-436A-AEA6-9FC6D09D8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/>
              <a:t>Convert MathML to SVG using </a:t>
            </a:r>
            <a:r>
              <a:rPr lang="en-GB" b="1" err="1"/>
              <a:t>MathJax</a:t>
            </a:r>
            <a:endParaRPr lang="en-GB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08325-65FF-CCF9-5418-FCBAE600F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511" y="3474244"/>
            <a:ext cx="1447800" cy="1092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B1D727-D18C-D0C2-2D83-A66CC594599D}"/>
              </a:ext>
            </a:extLst>
          </p:cNvPr>
          <p:cNvSpPr txBox="1"/>
          <p:nvPr/>
        </p:nvSpPr>
        <p:spPr>
          <a:xfrm>
            <a:off x="1753946" y="3046338"/>
            <a:ext cx="275267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&lt;math&gt;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&lt;mi&gt;y&lt;/mi&gt;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&gt;=&lt;/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&lt;mi&gt;x&lt;/mi&gt;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&lt;mi&gt;&amp;#x3B2;&lt;/mi&gt;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&gt;+&lt;/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mo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&lt;mi&gt;&amp;#x3B5;&lt;/mi&gt;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&lt;/math&gt;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3C27F-6901-91B0-2E45-330CF43350B1}"/>
              </a:ext>
            </a:extLst>
          </p:cNvPr>
          <p:cNvSpPr txBox="1"/>
          <p:nvPr/>
        </p:nvSpPr>
        <p:spPr>
          <a:xfrm>
            <a:off x="7387092" y="3046338"/>
            <a:ext cx="346601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svg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&lt;/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svg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7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6E55-3638-0729-0197-38540D25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Accessible latex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E94C-A2D3-436A-AEA6-9FC6D09D8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89565"/>
            <a:ext cx="9905999" cy="3541714"/>
          </a:xfrm>
        </p:spPr>
        <p:txBody>
          <a:bodyPr/>
          <a:lstStyle/>
          <a:p>
            <a:pPr marL="0" indent="0" algn="ctr">
              <a:buNone/>
            </a:pPr>
            <a:r>
              <a:rPr lang="en-GB" b="1"/>
              <a:t>Set the SVG title to the speech text, and tell assistive technologies to treat the SVG as an image with alt-text</a:t>
            </a:r>
            <a:endParaRPr lang="en-GB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08325-65FF-CCF9-5418-FCBAE600F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511" y="3474244"/>
            <a:ext cx="1447800" cy="1092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B1D727-D18C-D0C2-2D83-A66CC594599D}"/>
              </a:ext>
            </a:extLst>
          </p:cNvPr>
          <p:cNvSpPr txBox="1"/>
          <p:nvPr/>
        </p:nvSpPr>
        <p:spPr>
          <a:xfrm>
            <a:off x="1141410" y="2769339"/>
            <a:ext cx="788869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svg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 </a:t>
            </a:r>
            <a:r>
              <a:rPr lang="en-GB" b="1">
                <a:solidFill>
                  <a:srgbClr val="FC745B"/>
                </a:solidFill>
                <a:latin typeface="FiraCode Nerd Font Mono" panose="020B0809050000020004" pitchFamily="49" charset="0"/>
              </a:rPr>
              <a:t>role="</a:t>
            </a:r>
            <a:r>
              <a:rPr lang="en-GB" b="1" err="1">
                <a:solidFill>
                  <a:srgbClr val="FC745B"/>
                </a:solidFill>
                <a:latin typeface="FiraCode Nerd Font Mono" panose="020B0809050000020004" pitchFamily="49" charset="0"/>
              </a:rPr>
              <a:t>img</a:t>
            </a:r>
            <a:r>
              <a:rPr lang="en-GB" b="1">
                <a:solidFill>
                  <a:srgbClr val="FC745B"/>
                </a:solidFill>
                <a:latin typeface="FiraCode Nerd Font Mono" panose="020B0809050000020004" pitchFamily="49" charset="0"/>
              </a:rPr>
              <a:t>" aria-</a:t>
            </a:r>
            <a:r>
              <a:rPr lang="en-GB" b="1" err="1">
                <a:solidFill>
                  <a:srgbClr val="FC745B"/>
                </a:solidFill>
                <a:latin typeface="FiraCode Nerd Font Mono" panose="020B0809050000020004" pitchFamily="49" charset="0"/>
              </a:rPr>
              <a:t>labelledby</a:t>
            </a:r>
            <a:r>
              <a:rPr lang="en-GB" b="1">
                <a:solidFill>
                  <a:srgbClr val="FC745B"/>
                </a:solidFill>
                <a:latin typeface="FiraCode Nerd Font Mono" panose="020B0809050000020004" pitchFamily="49" charset="0"/>
              </a:rPr>
              <a:t>="id1"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</a:t>
            </a:r>
            <a:r>
              <a:rPr lang="en-GB" b="1">
                <a:solidFill>
                  <a:srgbClr val="FC745B"/>
                </a:solidFill>
                <a:latin typeface="FiraCode Nerd Font Mono" panose="020B0809050000020004" pitchFamily="49" charset="0"/>
              </a:rPr>
              <a:t>&lt;title id="id1"&gt;y equals x beta plus epsilon&lt;/title&gt;</a:t>
            </a:r>
            <a:br>
              <a:rPr lang="en-GB" b="1">
                <a:solidFill>
                  <a:srgbClr val="FC745B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  &lt;path d="..."&gt;&lt;/path&gt;</a:t>
            </a:r>
            <a:b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</a:b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&lt;/</a:t>
            </a:r>
            <a:r>
              <a:rPr lang="en-GB" err="1">
                <a:solidFill>
                  <a:srgbClr val="FFFFFF"/>
                </a:solidFill>
                <a:latin typeface="FiraCode Nerd Font Mono" panose="020B0809050000020004" pitchFamily="49" charset="0"/>
              </a:rPr>
              <a:t>svg</a:t>
            </a:r>
            <a:r>
              <a:rPr lang="en-GB">
                <a:solidFill>
                  <a:srgbClr val="FFFFFF"/>
                </a:solidFill>
                <a:latin typeface="FiraCode Nerd Font Mono" panose="020B0809050000020004" pitchFamily="49" charset="0"/>
              </a:rPr>
              <a:t>&gt;</a:t>
            </a:r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48A0E4-8BC3-2C48-A51D-466764296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968" y="3560422"/>
            <a:ext cx="4065113" cy="919843"/>
          </a:xfrm>
          <a:prstGeom prst="rect">
            <a:avLst/>
          </a:prstGeom>
        </p:spPr>
      </p:pic>
      <p:pic>
        <p:nvPicPr>
          <p:cNvPr id="8" name="speech (1).m4a" descr="speech (1).m4a">
            <a:hlinkClick r:id="" action="ppaction://media"/>
            <a:extLst>
              <a:ext uri="{FF2B5EF4-FFF2-40B4-BE49-F238E27FC236}">
                <a16:creationId xmlns:a16="http://schemas.microsoft.com/office/drawing/2014/main" id="{88A26A89-8D40-A426-EBEF-0827FC30BB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25959" y="522526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3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852C-FF3B-5B88-4C7C-EE35FA14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pdf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40C7F-D13C-1C21-75A6-769FCDE35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2400" b="1" dirty="0"/>
              <a:t>Providing options - some users prefer a paper-like representation of course notes.</a:t>
            </a:r>
            <a:br>
              <a:rPr lang="en-GB" sz="2400" b="1" dirty="0"/>
            </a:br>
            <a:endParaRPr lang="en-GB" sz="2400" dirty="0"/>
          </a:p>
          <a:p>
            <a:pPr lvl="1"/>
            <a:r>
              <a:rPr lang="en-GB" sz="2400" b="1" dirty="0"/>
              <a:t>Chromium, the open-source foundation of the Chrome browser, can create an accessible “tagged” PDF from an HTML document</a:t>
            </a:r>
            <a:br>
              <a:rPr lang="en-GB" sz="2400" b="1" dirty="0"/>
            </a:br>
            <a:endParaRPr lang="en-GB" sz="2400" dirty="0"/>
          </a:p>
          <a:p>
            <a:pPr lvl="1"/>
            <a:r>
              <a:rPr lang="en-GB" sz="2400" b="1" dirty="0"/>
              <a:t>Task answers are moved to the end due to lack of interactivity.</a:t>
            </a:r>
            <a:endParaRPr lang="en-GB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356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1E3A-0286-EFD7-7979-11A989E65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Student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FBC77-5226-9FE1-7A3F-90D48B8E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/>
          </a:bodyPr>
          <a:lstStyle/>
          <a:p>
            <a:r>
              <a:rPr lang="en-US" sz="2200" b="1" dirty="0"/>
              <a:t>Early student feedback to the new HTML accessible version of the notes has been positive. </a:t>
            </a:r>
          </a:p>
          <a:p>
            <a:r>
              <a:rPr lang="en-US" sz="2200" b="1" dirty="0"/>
              <a:t>“Cleaner and neat look”, “Task solutions attached to task saves scrolling”, “3-bar menu helpful for navigating sections”</a:t>
            </a:r>
          </a:p>
          <a:p>
            <a:r>
              <a:rPr lang="en-US" sz="2200" b="1" dirty="0"/>
              <a:t>Features such as theme and font size are used by students often. </a:t>
            </a:r>
          </a:p>
          <a:p>
            <a:r>
              <a:rPr lang="en-US" sz="2200" b="1" dirty="0"/>
              <a:t>Some helpful suggestions for development, such as copy/paste options for code blocks &amp; facilities for note taking. </a:t>
            </a:r>
          </a:p>
          <a:p>
            <a:r>
              <a:rPr lang="en-US" sz="2200" b="1" dirty="0"/>
              <a:t>PDF notes still used by students for at-home study and note taking.</a:t>
            </a:r>
          </a:p>
        </p:txBody>
      </p:sp>
    </p:spTree>
    <p:extLst>
      <p:ext uri="{BB962C8B-B14F-4D97-AF65-F5344CB8AC3E}">
        <p14:creationId xmlns:p14="http://schemas.microsoft.com/office/powerpoint/2010/main" val="1454477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4D414-281A-04DB-3747-5D2DE781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EAD6-A310-9417-839D-1C7F822CD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lvl="1"/>
            <a:r>
              <a:rPr lang="en-GB" sz="2200" b="1" dirty="0"/>
              <a:t>Moving from a paper-like to a webpage-like medium opens the door to richer notes.</a:t>
            </a:r>
            <a:br>
              <a:rPr lang="en-GB" sz="2200" b="1" dirty="0"/>
            </a:br>
            <a:endParaRPr lang="en-GB" sz="2200" dirty="0"/>
          </a:p>
          <a:p>
            <a:pPr lvl="1"/>
            <a:r>
              <a:rPr lang="en-GB" sz="2200" b="1" dirty="0"/>
              <a:t>Explore communicating complex concepts in more intuitive ways.</a:t>
            </a:r>
            <a:br>
              <a:rPr lang="en-GB" sz="2200" b="1" dirty="0"/>
            </a:br>
            <a:endParaRPr lang="en-GB" sz="2200" dirty="0"/>
          </a:p>
          <a:p>
            <a:pPr lvl="1"/>
            <a:r>
              <a:rPr lang="en-GB" sz="2200" b="1" dirty="0"/>
              <a:t>This can also create new challenges for accessibility.</a:t>
            </a:r>
            <a:br>
              <a:rPr lang="en-GB" b="1" dirty="0"/>
            </a:b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1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4D414-281A-04DB-3747-5D2DE781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EAD6-A310-9417-839D-1C7F822CD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Interactivity</a:t>
            </a:r>
          </a:p>
          <a:p>
            <a:endParaRPr lang="en-GB" sz="2200" dirty="0"/>
          </a:p>
          <a:p>
            <a:pPr lvl="1"/>
            <a:r>
              <a:rPr lang="en-GB" sz="2200" b="1" dirty="0"/>
              <a:t>A quiz embedded in the course notes, with score awarded in real time.</a:t>
            </a:r>
            <a:br>
              <a:rPr lang="en-GB" sz="2200" b="1" dirty="0"/>
            </a:br>
            <a:endParaRPr lang="en-GB" sz="2200" dirty="0"/>
          </a:p>
          <a:p>
            <a:pPr lvl="1"/>
            <a:r>
              <a:rPr lang="en-GB" sz="2200" b="1" dirty="0"/>
              <a:t>Plots where you can modify variables and see how it affects the plot in real time.</a:t>
            </a:r>
            <a:endParaRPr lang="en-GB" sz="2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71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4D414-281A-04DB-3747-5D2DE781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EAD6-A310-9417-839D-1C7F822CD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Animation</a:t>
            </a:r>
            <a:endParaRPr lang="en-GB" dirty="0"/>
          </a:p>
          <a:p>
            <a:endParaRPr lang="en-GB" dirty="0"/>
          </a:p>
          <a:p>
            <a:pPr lvl="1"/>
            <a:r>
              <a:rPr lang="en-GB" sz="2200" b="1" dirty="0"/>
              <a:t>Plots which evolve over time</a:t>
            </a:r>
            <a:br>
              <a:rPr lang="en-GB" sz="2200" b="1" dirty="0"/>
            </a:br>
            <a:endParaRPr lang="en-GB" sz="2200" dirty="0"/>
          </a:p>
          <a:p>
            <a:pPr lvl="1"/>
            <a:r>
              <a:rPr lang="en-GB" sz="2200" b="1" dirty="0"/>
              <a:t>Step through a complex process</a:t>
            </a:r>
            <a:br>
              <a:rPr lang="en-GB" sz="2200" b="1" dirty="0"/>
            </a:br>
            <a:endParaRPr lang="en-GB" sz="2200" dirty="0"/>
          </a:p>
          <a:p>
            <a:pPr lvl="1"/>
            <a:r>
              <a:rPr lang="en-GB" sz="2200" b="1" dirty="0"/>
              <a:t>Show the working of a mathematical problem</a:t>
            </a:r>
            <a:endParaRPr lang="en-GB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844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9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39" name="Rectangle 10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6="http://schemas.microsoft.com/office/drawing/2014/main" xmlns:a14="http://schemas.microsoft.com/office/drawing/2010/main" xmlns:p14="http://schemas.microsoft.com/office/powerpoint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461629F-3068-49C9-E960-F5172E7B48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t="17389" b="5269"/>
          <a:stretch/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grpSp>
        <p:nvGrpSpPr>
          <p:cNvPr id="40" name="Group 13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41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299FAD-1A58-5F0A-6277-6447C13CB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en-US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105FD-3906-1289-E2AF-5AA37F254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93266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0</TotalTime>
  <Words>992</Words>
  <Application>Microsoft Macintosh PowerPoint</Application>
  <PresentationFormat>Widescreen</PresentationFormat>
  <Paragraphs>82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FiraCode Nerd Font Mono</vt:lpstr>
      <vt:lpstr>Tw Cen MT</vt:lpstr>
      <vt:lpstr>Circuit</vt:lpstr>
      <vt:lpstr>Digital Accessibility for ODL course notes</vt:lpstr>
      <vt:lpstr>Learning materials for ODL – the past</vt:lpstr>
      <vt:lpstr>Learning materials for odl – the present</vt:lpstr>
      <vt:lpstr>Our solution</vt:lpstr>
      <vt:lpstr>Our solution</vt:lpstr>
      <vt:lpstr>The html file</vt:lpstr>
      <vt:lpstr>The html file</vt:lpstr>
      <vt:lpstr>Accessible latex</vt:lpstr>
      <vt:lpstr>Accessible latex</vt:lpstr>
      <vt:lpstr>Accessible latex</vt:lpstr>
      <vt:lpstr>Accessible latex</vt:lpstr>
      <vt:lpstr>The pdf file</vt:lpstr>
      <vt:lpstr>Initial Student Feedback</vt:lpstr>
      <vt:lpstr>Future goals</vt:lpstr>
      <vt:lpstr>Future goals</vt:lpstr>
      <vt:lpstr>Future goals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Accessiblility for ODL course notes</dc:title>
  <dc:creator>Craig Alexander</dc:creator>
  <cp:lastModifiedBy>Craig Alexander</cp:lastModifiedBy>
  <cp:revision>1</cp:revision>
  <dcterms:created xsi:type="dcterms:W3CDTF">2022-08-30T10:09:13Z</dcterms:created>
  <dcterms:modified xsi:type="dcterms:W3CDTF">2022-08-31T16:34:21Z</dcterms:modified>
</cp:coreProperties>
</file>