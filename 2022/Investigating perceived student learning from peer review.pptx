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76" r:id="rId3"/>
    <p:sldId id="258" r:id="rId4"/>
    <p:sldId id="260" r:id="rId5"/>
    <p:sldId id="261" r:id="rId6"/>
    <p:sldId id="263" r:id="rId7"/>
    <p:sldId id="264" r:id="rId8"/>
    <p:sldId id="265" r:id="rId9"/>
    <p:sldId id="278" r:id="rId10"/>
    <p:sldId id="267" r:id="rId11"/>
    <p:sldId id="269" r:id="rId12"/>
    <p:sldId id="277" r:id="rId13"/>
    <p:sldId id="270" r:id="rId14"/>
    <p:sldId id="271" r:id="rId15"/>
    <p:sldId id="273" r:id="rId16"/>
    <p:sldId id="279"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91563-EC9C-6E4F-9C76-16A4DD33002B}" v="81" dt="2022-09-12T17:30:01.7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3"/>
  </p:normalViewPr>
  <p:slideViewPr>
    <p:cSldViewPr snapToGrid="0">
      <p:cViewPr varScale="1">
        <p:scale>
          <a:sx n="101" d="100"/>
          <a:sy n="101" d="100"/>
        </p:scale>
        <p:origin x="10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ig Alexander" userId="cbab3422-1701-47c9-a4f0-14c0d221c31a" providerId="ADAL" clId="{08F91563-EC9C-6E4F-9C76-16A4DD33002B}"/>
    <pc:docChg chg="undo custSel addSld delSld modSld">
      <pc:chgData name="Craig Alexander" userId="cbab3422-1701-47c9-a4f0-14c0d221c31a" providerId="ADAL" clId="{08F91563-EC9C-6E4F-9C76-16A4DD33002B}" dt="2022-09-12T17:30:01.772" v="2738"/>
      <pc:docMkLst>
        <pc:docMk/>
      </pc:docMkLst>
      <pc:sldChg chg="modSp mod">
        <pc:chgData name="Craig Alexander" userId="cbab3422-1701-47c9-a4f0-14c0d221c31a" providerId="ADAL" clId="{08F91563-EC9C-6E4F-9C76-16A4DD33002B}" dt="2022-09-12T17:13:10.427" v="2561" actId="115"/>
        <pc:sldMkLst>
          <pc:docMk/>
          <pc:sldMk cId="1376347763" sldId="256"/>
        </pc:sldMkLst>
        <pc:spChg chg="mod">
          <ac:chgData name="Craig Alexander" userId="cbab3422-1701-47c9-a4f0-14c0d221c31a" providerId="ADAL" clId="{08F91563-EC9C-6E4F-9C76-16A4DD33002B}" dt="2022-09-12T17:11:30.353" v="2545" actId="255"/>
          <ac:spMkLst>
            <pc:docMk/>
            <pc:sldMk cId="1376347763" sldId="256"/>
            <ac:spMk id="2" creationId="{BD299FAD-1A58-5F0A-6277-6447C13CBAF2}"/>
          </ac:spMkLst>
        </pc:spChg>
        <pc:spChg chg="mod">
          <ac:chgData name="Craig Alexander" userId="cbab3422-1701-47c9-a4f0-14c0d221c31a" providerId="ADAL" clId="{08F91563-EC9C-6E4F-9C76-16A4DD33002B}" dt="2022-09-12T17:13:10.427" v="2561" actId="115"/>
          <ac:spMkLst>
            <pc:docMk/>
            <pc:sldMk cId="1376347763" sldId="256"/>
            <ac:spMk id="3" creationId="{74A105FD-3906-1289-E2AF-5AA37F254EAD}"/>
          </ac:spMkLst>
        </pc:spChg>
      </pc:sldChg>
      <pc:sldChg chg="addSp modSp mod">
        <pc:chgData name="Craig Alexander" userId="cbab3422-1701-47c9-a4f0-14c0d221c31a" providerId="ADAL" clId="{08F91563-EC9C-6E4F-9C76-16A4DD33002B}" dt="2022-09-12T17:28:15.716" v="2711"/>
        <pc:sldMkLst>
          <pc:docMk/>
          <pc:sldMk cId="2280224747" sldId="258"/>
        </pc:sldMkLst>
        <pc:spChg chg="mod">
          <ac:chgData name="Craig Alexander" userId="cbab3422-1701-47c9-a4f0-14c0d221c31a" providerId="ADAL" clId="{08F91563-EC9C-6E4F-9C76-16A4DD33002B}" dt="2022-09-12T17:28:15.716" v="2711"/>
          <ac:spMkLst>
            <pc:docMk/>
            <pc:sldMk cId="2280224747" sldId="258"/>
            <ac:spMk id="2" creationId="{BCA8094D-4EC2-0EB7-CB3E-56B419F6988F}"/>
          </ac:spMkLst>
        </pc:spChg>
        <pc:spChg chg="mod">
          <ac:chgData name="Craig Alexander" userId="cbab3422-1701-47c9-a4f0-14c0d221c31a" providerId="ADAL" clId="{08F91563-EC9C-6E4F-9C76-16A4DD33002B}" dt="2022-09-12T17:13:22.432" v="2563" actId="27636"/>
          <ac:spMkLst>
            <pc:docMk/>
            <pc:sldMk cId="2280224747" sldId="258"/>
            <ac:spMk id="3" creationId="{3AE8A93E-27F4-1742-6C8B-E4C47806C278}"/>
          </ac:spMkLst>
        </pc:spChg>
        <pc:spChg chg="add mod">
          <ac:chgData name="Craig Alexander" userId="cbab3422-1701-47c9-a4f0-14c0d221c31a" providerId="ADAL" clId="{08F91563-EC9C-6E4F-9C76-16A4DD33002B}" dt="2022-09-12T17:14:21.860" v="2572" actId="255"/>
          <ac:spMkLst>
            <pc:docMk/>
            <pc:sldMk cId="2280224747" sldId="258"/>
            <ac:spMk id="4" creationId="{97183473-D69F-F802-96A1-DC01679EA74E}"/>
          </ac:spMkLst>
        </pc:spChg>
      </pc:sldChg>
      <pc:sldChg chg="addSp modSp mod">
        <pc:chgData name="Craig Alexander" userId="cbab3422-1701-47c9-a4f0-14c0d221c31a" providerId="ADAL" clId="{08F91563-EC9C-6E4F-9C76-16A4DD33002B}" dt="2022-09-12T17:28:28.419" v="2713"/>
        <pc:sldMkLst>
          <pc:docMk/>
          <pc:sldMk cId="2460738954" sldId="260"/>
        </pc:sldMkLst>
        <pc:spChg chg="mod">
          <ac:chgData name="Craig Alexander" userId="cbab3422-1701-47c9-a4f0-14c0d221c31a" providerId="ADAL" clId="{08F91563-EC9C-6E4F-9C76-16A4DD33002B}" dt="2022-09-12T17:28:28.419" v="2713"/>
          <ac:spMkLst>
            <pc:docMk/>
            <pc:sldMk cId="2460738954" sldId="260"/>
            <ac:spMk id="2" creationId="{061CEF82-15CF-18AD-7C18-F53B5FA04B8A}"/>
          </ac:spMkLst>
        </pc:spChg>
        <pc:spChg chg="mod">
          <ac:chgData name="Craig Alexander" userId="cbab3422-1701-47c9-a4f0-14c0d221c31a" providerId="ADAL" clId="{08F91563-EC9C-6E4F-9C76-16A4DD33002B}" dt="2022-09-12T17:14:37.307" v="2575" actId="33524"/>
          <ac:spMkLst>
            <pc:docMk/>
            <pc:sldMk cId="2460738954" sldId="260"/>
            <ac:spMk id="3" creationId="{411EE78E-119B-A48D-F55D-BF66A2494C54}"/>
          </ac:spMkLst>
        </pc:spChg>
        <pc:spChg chg="add mod">
          <ac:chgData name="Craig Alexander" userId="cbab3422-1701-47c9-a4f0-14c0d221c31a" providerId="ADAL" clId="{08F91563-EC9C-6E4F-9C76-16A4DD33002B}" dt="2022-09-12T17:15:07.479" v="2579" actId="27636"/>
          <ac:spMkLst>
            <pc:docMk/>
            <pc:sldMk cId="2460738954" sldId="260"/>
            <ac:spMk id="4" creationId="{DD3C531A-6006-96C3-7379-DE896677016C}"/>
          </ac:spMkLst>
        </pc:spChg>
      </pc:sldChg>
      <pc:sldChg chg="addSp delSp modSp mod">
        <pc:chgData name="Craig Alexander" userId="cbab3422-1701-47c9-a4f0-14c0d221c31a" providerId="ADAL" clId="{08F91563-EC9C-6E4F-9C76-16A4DD33002B}" dt="2022-09-12T17:28:32.552" v="2715"/>
        <pc:sldMkLst>
          <pc:docMk/>
          <pc:sldMk cId="1053634146" sldId="261"/>
        </pc:sldMkLst>
        <pc:spChg chg="mod">
          <ac:chgData name="Craig Alexander" userId="cbab3422-1701-47c9-a4f0-14c0d221c31a" providerId="ADAL" clId="{08F91563-EC9C-6E4F-9C76-16A4DD33002B}" dt="2022-09-12T17:28:32.552" v="2715"/>
          <ac:spMkLst>
            <pc:docMk/>
            <pc:sldMk cId="1053634146" sldId="261"/>
            <ac:spMk id="2" creationId="{061CEF82-15CF-18AD-7C18-F53B5FA04B8A}"/>
          </ac:spMkLst>
        </pc:spChg>
        <pc:spChg chg="del mod">
          <ac:chgData name="Craig Alexander" userId="cbab3422-1701-47c9-a4f0-14c0d221c31a" providerId="ADAL" clId="{08F91563-EC9C-6E4F-9C76-16A4DD33002B}" dt="2022-09-08T11:34:27.113" v="950"/>
          <ac:spMkLst>
            <pc:docMk/>
            <pc:sldMk cId="1053634146" sldId="261"/>
            <ac:spMk id="3" creationId="{411EE78E-119B-A48D-F55D-BF66A2494C54}"/>
          </ac:spMkLst>
        </pc:spChg>
        <pc:graphicFrameChg chg="add mod modGraphic">
          <ac:chgData name="Craig Alexander" userId="cbab3422-1701-47c9-a4f0-14c0d221c31a" providerId="ADAL" clId="{08F91563-EC9C-6E4F-9C76-16A4DD33002B}" dt="2022-09-12T17:17:34.743" v="2601" actId="1076"/>
          <ac:graphicFrameMkLst>
            <pc:docMk/>
            <pc:sldMk cId="1053634146" sldId="261"/>
            <ac:graphicFrameMk id="4" creationId="{126124E8-B33B-FEDD-2A10-25FCE1B01758}"/>
          </ac:graphicFrameMkLst>
        </pc:graphicFrameChg>
      </pc:sldChg>
      <pc:sldChg chg="addSp modSp mod">
        <pc:chgData name="Craig Alexander" userId="cbab3422-1701-47c9-a4f0-14c0d221c31a" providerId="ADAL" clId="{08F91563-EC9C-6E4F-9C76-16A4DD33002B}" dt="2022-09-12T17:28:37.087" v="2717"/>
        <pc:sldMkLst>
          <pc:docMk/>
          <pc:sldMk cId="2768814353" sldId="263"/>
        </pc:sldMkLst>
        <pc:spChg chg="mod">
          <ac:chgData name="Craig Alexander" userId="cbab3422-1701-47c9-a4f0-14c0d221c31a" providerId="ADAL" clId="{08F91563-EC9C-6E4F-9C76-16A4DD33002B}" dt="2022-09-12T17:28:37.087" v="2717"/>
          <ac:spMkLst>
            <pc:docMk/>
            <pc:sldMk cId="2768814353" sldId="263"/>
            <ac:spMk id="2" creationId="{619EA537-D7C6-37FA-4FEC-43A25FC6529F}"/>
          </ac:spMkLst>
        </pc:spChg>
        <pc:spChg chg="mod">
          <ac:chgData name="Craig Alexander" userId="cbab3422-1701-47c9-a4f0-14c0d221c31a" providerId="ADAL" clId="{08F91563-EC9C-6E4F-9C76-16A4DD33002B}" dt="2022-09-12T17:18:11.866" v="2610" actId="33524"/>
          <ac:spMkLst>
            <pc:docMk/>
            <pc:sldMk cId="2768814353" sldId="263"/>
            <ac:spMk id="3" creationId="{87072473-2B3C-A9FB-C61D-92688D306BE7}"/>
          </ac:spMkLst>
        </pc:spChg>
        <pc:spChg chg="add mod">
          <ac:chgData name="Craig Alexander" userId="cbab3422-1701-47c9-a4f0-14c0d221c31a" providerId="ADAL" clId="{08F91563-EC9C-6E4F-9C76-16A4DD33002B}" dt="2022-09-12T17:18:05.084" v="2609" actId="27636"/>
          <ac:spMkLst>
            <pc:docMk/>
            <pc:sldMk cId="2768814353" sldId="263"/>
            <ac:spMk id="4" creationId="{59962B57-CF2F-4796-1748-ECE9F588612B}"/>
          </ac:spMkLst>
        </pc:spChg>
      </pc:sldChg>
      <pc:sldChg chg="addSp modSp mod">
        <pc:chgData name="Craig Alexander" userId="cbab3422-1701-47c9-a4f0-14c0d221c31a" providerId="ADAL" clId="{08F91563-EC9C-6E4F-9C76-16A4DD33002B}" dt="2022-09-12T17:28:50.275" v="2719"/>
        <pc:sldMkLst>
          <pc:docMk/>
          <pc:sldMk cId="3288161075" sldId="264"/>
        </pc:sldMkLst>
        <pc:spChg chg="mod">
          <ac:chgData name="Craig Alexander" userId="cbab3422-1701-47c9-a4f0-14c0d221c31a" providerId="ADAL" clId="{08F91563-EC9C-6E4F-9C76-16A4DD33002B}" dt="2022-09-12T17:28:50.275" v="2719"/>
          <ac:spMkLst>
            <pc:docMk/>
            <pc:sldMk cId="3288161075" sldId="264"/>
            <ac:spMk id="2" creationId="{619EA537-D7C6-37FA-4FEC-43A25FC6529F}"/>
          </ac:spMkLst>
        </pc:spChg>
        <pc:spChg chg="mod">
          <ac:chgData name="Craig Alexander" userId="cbab3422-1701-47c9-a4f0-14c0d221c31a" providerId="ADAL" clId="{08F91563-EC9C-6E4F-9C76-16A4DD33002B}" dt="2022-09-12T17:18:26.312" v="2612" actId="27636"/>
          <ac:spMkLst>
            <pc:docMk/>
            <pc:sldMk cId="3288161075" sldId="264"/>
            <ac:spMk id="3" creationId="{87072473-2B3C-A9FB-C61D-92688D306BE7}"/>
          </ac:spMkLst>
        </pc:spChg>
        <pc:spChg chg="add mod">
          <ac:chgData name="Craig Alexander" userId="cbab3422-1701-47c9-a4f0-14c0d221c31a" providerId="ADAL" clId="{08F91563-EC9C-6E4F-9C76-16A4DD33002B}" dt="2022-09-12T17:18:48.955" v="2618" actId="27636"/>
          <ac:spMkLst>
            <pc:docMk/>
            <pc:sldMk cId="3288161075" sldId="264"/>
            <ac:spMk id="4" creationId="{0514B75F-9370-09F2-8BBF-0886B895A4E4}"/>
          </ac:spMkLst>
        </pc:spChg>
      </pc:sldChg>
      <pc:sldChg chg="addSp delSp modSp mod">
        <pc:chgData name="Craig Alexander" userId="cbab3422-1701-47c9-a4f0-14c0d221c31a" providerId="ADAL" clId="{08F91563-EC9C-6E4F-9C76-16A4DD33002B}" dt="2022-09-12T17:28:54.609" v="2721"/>
        <pc:sldMkLst>
          <pc:docMk/>
          <pc:sldMk cId="2489893082" sldId="265"/>
        </pc:sldMkLst>
        <pc:spChg chg="mod">
          <ac:chgData name="Craig Alexander" userId="cbab3422-1701-47c9-a4f0-14c0d221c31a" providerId="ADAL" clId="{08F91563-EC9C-6E4F-9C76-16A4DD33002B}" dt="2022-09-12T17:28:54.609" v="2721"/>
          <ac:spMkLst>
            <pc:docMk/>
            <pc:sldMk cId="2489893082" sldId="265"/>
            <ac:spMk id="2" creationId="{53776E55-3638-0729-0197-38540D259C75}"/>
          </ac:spMkLst>
        </pc:spChg>
        <pc:spChg chg="del">
          <ac:chgData name="Craig Alexander" userId="cbab3422-1701-47c9-a4f0-14c0d221c31a" providerId="ADAL" clId="{08F91563-EC9C-6E4F-9C76-16A4DD33002B}" dt="2022-09-08T11:53:19.873" v="1500" actId="478"/>
          <ac:spMkLst>
            <pc:docMk/>
            <pc:sldMk cId="2489893082" sldId="265"/>
            <ac:spMk id="3" creationId="{49BAE94C-A2D3-436A-AEA6-9FC6D09D8D3D}"/>
          </ac:spMkLst>
        </pc:spChg>
        <pc:spChg chg="add mod">
          <ac:chgData name="Craig Alexander" userId="cbab3422-1701-47c9-a4f0-14c0d221c31a" providerId="ADAL" clId="{08F91563-EC9C-6E4F-9C76-16A4DD33002B}" dt="2022-09-12T17:20:10.109" v="2652" actId="255"/>
          <ac:spMkLst>
            <pc:docMk/>
            <pc:sldMk cId="2489893082" sldId="265"/>
            <ac:spMk id="3" creationId="{A2DE1ADE-E2D6-1C0F-853F-B894123B362C}"/>
          </ac:spMkLst>
        </pc:spChg>
        <pc:spChg chg="del">
          <ac:chgData name="Craig Alexander" userId="cbab3422-1701-47c9-a4f0-14c0d221c31a" providerId="ADAL" clId="{08F91563-EC9C-6E4F-9C76-16A4DD33002B}" dt="2022-09-08T11:53:34.319" v="1505" actId="478"/>
          <ac:spMkLst>
            <pc:docMk/>
            <pc:sldMk cId="2489893082" sldId="265"/>
            <ac:spMk id="5" creationId="{22B1D727-D18C-D0C2-2D83-A66CC594599D}"/>
          </ac:spMkLst>
        </pc:spChg>
        <pc:spChg chg="del mod">
          <ac:chgData name="Craig Alexander" userId="cbab3422-1701-47c9-a4f0-14c0d221c31a" providerId="ADAL" clId="{08F91563-EC9C-6E4F-9C76-16A4DD33002B}" dt="2022-09-08T11:53:31.009" v="1503" actId="478"/>
          <ac:spMkLst>
            <pc:docMk/>
            <pc:sldMk cId="2489893082" sldId="265"/>
            <ac:spMk id="6" creationId="{3E53C27F-6901-91B0-2E45-330CF43350B1}"/>
          </ac:spMkLst>
        </pc:spChg>
        <pc:spChg chg="add mod">
          <ac:chgData name="Craig Alexander" userId="cbab3422-1701-47c9-a4f0-14c0d221c31a" providerId="ADAL" clId="{08F91563-EC9C-6E4F-9C76-16A4DD33002B}" dt="2022-09-12T17:19:21.407" v="2632" actId="20577"/>
          <ac:spMkLst>
            <pc:docMk/>
            <pc:sldMk cId="2489893082" sldId="265"/>
            <ac:spMk id="8" creationId="{906ED9AE-6AAC-249A-F29D-A6E68CC00593}"/>
          </ac:spMkLst>
        </pc:spChg>
        <pc:picChg chg="del">
          <ac:chgData name="Craig Alexander" userId="cbab3422-1701-47c9-a4f0-14c0d221c31a" providerId="ADAL" clId="{08F91563-EC9C-6E4F-9C76-16A4DD33002B}" dt="2022-09-08T11:53:32.040" v="1504" actId="478"/>
          <ac:picMkLst>
            <pc:docMk/>
            <pc:sldMk cId="2489893082" sldId="265"/>
            <ac:picMk id="4" creationId="{67908325-65FF-CCF9-5418-FCBAE600F073}"/>
          </ac:picMkLst>
        </pc:picChg>
      </pc:sldChg>
      <pc:sldChg chg="del">
        <pc:chgData name="Craig Alexander" userId="cbab3422-1701-47c9-a4f0-14c0d221c31a" providerId="ADAL" clId="{08F91563-EC9C-6E4F-9C76-16A4DD33002B}" dt="2022-09-08T12:03:34.645" v="1704" actId="2696"/>
        <pc:sldMkLst>
          <pc:docMk/>
          <pc:sldMk cId="3231242418" sldId="266"/>
        </pc:sldMkLst>
      </pc:sldChg>
      <pc:sldChg chg="addSp delSp modSp mod">
        <pc:chgData name="Craig Alexander" userId="cbab3422-1701-47c9-a4f0-14c0d221c31a" providerId="ADAL" clId="{08F91563-EC9C-6E4F-9C76-16A4DD33002B}" dt="2022-09-12T17:29:11.381" v="2725"/>
        <pc:sldMkLst>
          <pc:docMk/>
          <pc:sldMk cId="939873254" sldId="267"/>
        </pc:sldMkLst>
        <pc:spChg chg="mod">
          <ac:chgData name="Craig Alexander" userId="cbab3422-1701-47c9-a4f0-14c0d221c31a" providerId="ADAL" clId="{08F91563-EC9C-6E4F-9C76-16A4DD33002B}" dt="2022-09-12T17:29:11.381" v="2725"/>
          <ac:spMkLst>
            <pc:docMk/>
            <pc:sldMk cId="939873254" sldId="267"/>
            <ac:spMk id="2" creationId="{53776E55-3638-0729-0197-38540D259C75}"/>
          </ac:spMkLst>
        </pc:spChg>
        <pc:spChg chg="mod">
          <ac:chgData name="Craig Alexander" userId="cbab3422-1701-47c9-a4f0-14c0d221c31a" providerId="ADAL" clId="{08F91563-EC9C-6E4F-9C76-16A4DD33002B}" dt="2022-09-12T17:22:20.844" v="2664" actId="27636"/>
          <ac:spMkLst>
            <pc:docMk/>
            <pc:sldMk cId="939873254" sldId="267"/>
            <ac:spMk id="3" creationId="{49BAE94C-A2D3-436A-AEA6-9FC6D09D8D3D}"/>
          </ac:spMkLst>
        </pc:spChg>
        <pc:spChg chg="add mod">
          <ac:chgData name="Craig Alexander" userId="cbab3422-1701-47c9-a4f0-14c0d221c31a" providerId="ADAL" clId="{08F91563-EC9C-6E4F-9C76-16A4DD33002B}" dt="2022-09-12T17:22:48.807" v="2668" actId="27636"/>
          <ac:spMkLst>
            <pc:docMk/>
            <pc:sldMk cId="939873254" sldId="267"/>
            <ac:spMk id="4" creationId="{680852D2-A34F-3D11-1FB5-42587480387E}"/>
          </ac:spMkLst>
        </pc:spChg>
        <pc:spChg chg="del mod">
          <ac:chgData name="Craig Alexander" userId="cbab3422-1701-47c9-a4f0-14c0d221c31a" providerId="ADAL" clId="{08F91563-EC9C-6E4F-9C76-16A4DD33002B}" dt="2022-09-08T12:04:27.811" v="1756" actId="478"/>
          <ac:spMkLst>
            <pc:docMk/>
            <pc:sldMk cId="939873254" sldId="267"/>
            <ac:spMk id="5" creationId="{22B1D727-D18C-D0C2-2D83-A66CC594599D}"/>
          </ac:spMkLst>
        </pc:spChg>
        <pc:spChg chg="del">
          <ac:chgData name="Craig Alexander" userId="cbab3422-1701-47c9-a4f0-14c0d221c31a" providerId="ADAL" clId="{08F91563-EC9C-6E4F-9C76-16A4DD33002B}" dt="2022-09-08T12:04:30.911" v="1758" actId="478"/>
          <ac:spMkLst>
            <pc:docMk/>
            <pc:sldMk cId="939873254" sldId="267"/>
            <ac:spMk id="6" creationId="{3E53C27F-6901-91B0-2E45-330CF43350B1}"/>
          </ac:spMkLst>
        </pc:spChg>
        <pc:picChg chg="del">
          <ac:chgData name="Craig Alexander" userId="cbab3422-1701-47c9-a4f0-14c0d221c31a" providerId="ADAL" clId="{08F91563-EC9C-6E4F-9C76-16A4DD33002B}" dt="2022-09-08T12:04:28.825" v="1757" actId="478"/>
          <ac:picMkLst>
            <pc:docMk/>
            <pc:sldMk cId="939873254" sldId="267"/>
            <ac:picMk id="4" creationId="{67908325-65FF-CCF9-5418-FCBAE600F073}"/>
          </ac:picMkLst>
        </pc:picChg>
      </pc:sldChg>
      <pc:sldChg chg="del">
        <pc:chgData name="Craig Alexander" userId="cbab3422-1701-47c9-a4f0-14c0d221c31a" providerId="ADAL" clId="{08F91563-EC9C-6E4F-9C76-16A4DD33002B}" dt="2022-09-08T12:06:54.532" v="1902" actId="2696"/>
        <pc:sldMkLst>
          <pc:docMk/>
          <pc:sldMk cId="744530479" sldId="268"/>
        </pc:sldMkLst>
      </pc:sldChg>
      <pc:sldChg chg="addSp modSp mod">
        <pc:chgData name="Craig Alexander" userId="cbab3422-1701-47c9-a4f0-14c0d221c31a" providerId="ADAL" clId="{08F91563-EC9C-6E4F-9C76-16A4DD33002B}" dt="2022-09-12T17:29:15.736" v="2727"/>
        <pc:sldMkLst>
          <pc:docMk/>
          <pc:sldMk cId="2879356640" sldId="269"/>
        </pc:sldMkLst>
        <pc:spChg chg="mod">
          <ac:chgData name="Craig Alexander" userId="cbab3422-1701-47c9-a4f0-14c0d221c31a" providerId="ADAL" clId="{08F91563-EC9C-6E4F-9C76-16A4DD33002B}" dt="2022-09-12T17:29:15.736" v="2727"/>
          <ac:spMkLst>
            <pc:docMk/>
            <pc:sldMk cId="2879356640" sldId="269"/>
            <ac:spMk id="2" creationId="{B7E7852C-FF3B-5B88-4C7C-EE35FA14853D}"/>
          </ac:spMkLst>
        </pc:spChg>
        <pc:spChg chg="mod">
          <ac:chgData name="Craig Alexander" userId="cbab3422-1701-47c9-a4f0-14c0d221c31a" providerId="ADAL" clId="{08F91563-EC9C-6E4F-9C76-16A4DD33002B}" dt="2022-09-12T17:24:02.918" v="2670" actId="27636"/>
          <ac:spMkLst>
            <pc:docMk/>
            <pc:sldMk cId="2879356640" sldId="269"/>
            <ac:spMk id="3" creationId="{CB740C7F-D13C-1C21-75A6-769FCDE35E7C}"/>
          </ac:spMkLst>
        </pc:spChg>
        <pc:spChg chg="add mod">
          <ac:chgData name="Craig Alexander" userId="cbab3422-1701-47c9-a4f0-14c0d221c31a" providerId="ADAL" clId="{08F91563-EC9C-6E4F-9C76-16A4DD33002B}" dt="2022-09-12T17:24:23.613" v="2674" actId="27636"/>
          <ac:spMkLst>
            <pc:docMk/>
            <pc:sldMk cId="2879356640" sldId="269"/>
            <ac:spMk id="4" creationId="{0DC873AB-C090-F465-8027-54C89C046937}"/>
          </ac:spMkLst>
        </pc:spChg>
      </pc:sldChg>
      <pc:sldChg chg="addSp modSp mod">
        <pc:chgData name="Craig Alexander" userId="cbab3422-1701-47c9-a4f0-14c0d221c31a" providerId="ADAL" clId="{08F91563-EC9C-6E4F-9C76-16A4DD33002B}" dt="2022-09-12T17:29:24.091" v="2731"/>
        <pc:sldMkLst>
          <pc:docMk/>
          <pc:sldMk cId="257101642" sldId="270"/>
        </pc:sldMkLst>
        <pc:spChg chg="mod">
          <ac:chgData name="Craig Alexander" userId="cbab3422-1701-47c9-a4f0-14c0d221c31a" providerId="ADAL" clId="{08F91563-EC9C-6E4F-9C76-16A4DD33002B}" dt="2022-09-12T17:29:24.091" v="2731"/>
          <ac:spMkLst>
            <pc:docMk/>
            <pc:sldMk cId="257101642" sldId="270"/>
            <ac:spMk id="2" creationId="{2344D414-281A-04DB-3747-5D2DE781FB80}"/>
          </ac:spMkLst>
        </pc:spChg>
        <pc:spChg chg="mod">
          <ac:chgData name="Craig Alexander" userId="cbab3422-1701-47c9-a4f0-14c0d221c31a" providerId="ADAL" clId="{08F91563-EC9C-6E4F-9C76-16A4DD33002B}" dt="2022-09-12T17:24:58.428" v="2682" actId="27636"/>
          <ac:spMkLst>
            <pc:docMk/>
            <pc:sldMk cId="257101642" sldId="270"/>
            <ac:spMk id="3" creationId="{DBD0EAD6-A310-9417-839D-1C7F822CD659}"/>
          </ac:spMkLst>
        </pc:spChg>
        <pc:spChg chg="add mod">
          <ac:chgData name="Craig Alexander" userId="cbab3422-1701-47c9-a4f0-14c0d221c31a" providerId="ADAL" clId="{08F91563-EC9C-6E4F-9C76-16A4DD33002B}" dt="2022-09-12T17:25:20.800" v="2686" actId="27636"/>
          <ac:spMkLst>
            <pc:docMk/>
            <pc:sldMk cId="257101642" sldId="270"/>
            <ac:spMk id="4" creationId="{44734DBA-FDA6-864A-65B1-0F60F63732CF}"/>
          </ac:spMkLst>
        </pc:spChg>
      </pc:sldChg>
      <pc:sldChg chg="addSp delSp modSp mod">
        <pc:chgData name="Craig Alexander" userId="cbab3422-1701-47c9-a4f0-14c0d221c31a" providerId="ADAL" clId="{08F91563-EC9C-6E4F-9C76-16A4DD33002B}" dt="2022-09-12T17:29:38.238" v="2733"/>
        <pc:sldMkLst>
          <pc:docMk/>
          <pc:sldMk cId="2505971960" sldId="271"/>
        </pc:sldMkLst>
        <pc:spChg chg="mod">
          <ac:chgData name="Craig Alexander" userId="cbab3422-1701-47c9-a4f0-14c0d221c31a" providerId="ADAL" clId="{08F91563-EC9C-6E4F-9C76-16A4DD33002B}" dt="2022-09-12T17:29:38.238" v="2733"/>
          <ac:spMkLst>
            <pc:docMk/>
            <pc:sldMk cId="2505971960" sldId="271"/>
            <ac:spMk id="2" creationId="{2344D414-281A-04DB-3747-5D2DE781FB80}"/>
          </ac:spMkLst>
        </pc:spChg>
        <pc:spChg chg="add del mod">
          <ac:chgData name="Craig Alexander" userId="cbab3422-1701-47c9-a4f0-14c0d221c31a" providerId="ADAL" clId="{08F91563-EC9C-6E4F-9C76-16A4DD33002B}" dt="2022-09-12T17:25:31.507" v="2688" actId="27636"/>
          <ac:spMkLst>
            <pc:docMk/>
            <pc:sldMk cId="2505971960" sldId="271"/>
            <ac:spMk id="3" creationId="{DBD0EAD6-A310-9417-839D-1C7F822CD659}"/>
          </ac:spMkLst>
        </pc:spChg>
        <pc:spChg chg="add mod">
          <ac:chgData name="Craig Alexander" userId="cbab3422-1701-47c9-a4f0-14c0d221c31a" providerId="ADAL" clId="{08F91563-EC9C-6E4F-9C76-16A4DD33002B}" dt="2022-09-12T17:25:58.442" v="2694" actId="255"/>
          <ac:spMkLst>
            <pc:docMk/>
            <pc:sldMk cId="2505971960" sldId="271"/>
            <ac:spMk id="4" creationId="{864CAFA6-B4EA-3F60-C3BB-F7541F630A2F}"/>
          </ac:spMkLst>
        </pc:spChg>
        <pc:spChg chg="add del mod">
          <ac:chgData name="Craig Alexander" userId="cbab3422-1701-47c9-a4f0-14c0d221c31a" providerId="ADAL" clId="{08F91563-EC9C-6E4F-9C76-16A4DD33002B}" dt="2022-09-08T12:25:35.048" v="2435"/>
          <ac:spMkLst>
            <pc:docMk/>
            <pc:sldMk cId="2505971960" sldId="271"/>
            <ac:spMk id="4" creationId="{9D23169E-8E89-7442-7B38-0E49C5510AA8}"/>
          </ac:spMkLst>
        </pc:spChg>
      </pc:sldChg>
      <pc:sldChg chg="addSp modSp mod">
        <pc:chgData name="Craig Alexander" userId="cbab3422-1701-47c9-a4f0-14c0d221c31a" providerId="ADAL" clId="{08F91563-EC9C-6E4F-9C76-16A4DD33002B}" dt="2022-09-12T17:29:42.739" v="2735"/>
        <pc:sldMkLst>
          <pc:docMk/>
          <pc:sldMk cId="2757844503" sldId="273"/>
        </pc:sldMkLst>
        <pc:spChg chg="mod">
          <ac:chgData name="Craig Alexander" userId="cbab3422-1701-47c9-a4f0-14c0d221c31a" providerId="ADAL" clId="{08F91563-EC9C-6E4F-9C76-16A4DD33002B}" dt="2022-09-12T17:29:42.739" v="2735"/>
          <ac:spMkLst>
            <pc:docMk/>
            <pc:sldMk cId="2757844503" sldId="273"/>
            <ac:spMk id="2" creationId="{2344D414-281A-04DB-3747-5D2DE781FB80}"/>
          </ac:spMkLst>
        </pc:spChg>
        <pc:spChg chg="mod">
          <ac:chgData name="Craig Alexander" userId="cbab3422-1701-47c9-a4f0-14c0d221c31a" providerId="ADAL" clId="{08F91563-EC9C-6E4F-9C76-16A4DD33002B}" dt="2022-09-12T17:26:10.043" v="2696" actId="27636"/>
          <ac:spMkLst>
            <pc:docMk/>
            <pc:sldMk cId="2757844503" sldId="273"/>
            <ac:spMk id="3" creationId="{DBD0EAD6-A310-9417-839D-1C7F822CD659}"/>
          </ac:spMkLst>
        </pc:spChg>
        <pc:spChg chg="add mod">
          <ac:chgData name="Craig Alexander" userId="cbab3422-1701-47c9-a4f0-14c0d221c31a" providerId="ADAL" clId="{08F91563-EC9C-6E4F-9C76-16A4DD33002B}" dt="2022-09-12T17:26:28.750" v="2702" actId="27636"/>
          <ac:spMkLst>
            <pc:docMk/>
            <pc:sldMk cId="2757844503" sldId="273"/>
            <ac:spMk id="4" creationId="{631AB4AA-C376-E580-5F8B-7012941BAF75}"/>
          </ac:spMkLst>
        </pc:spChg>
      </pc:sldChg>
      <pc:sldChg chg="modSp mod">
        <pc:chgData name="Craig Alexander" userId="cbab3422-1701-47c9-a4f0-14c0d221c31a" providerId="ADAL" clId="{08F91563-EC9C-6E4F-9C76-16A4DD33002B}" dt="2022-09-12T17:27:34.408" v="2707"/>
        <pc:sldMkLst>
          <pc:docMk/>
          <pc:sldMk cId="2932663827" sldId="275"/>
        </pc:sldMkLst>
        <pc:spChg chg="mod">
          <ac:chgData name="Craig Alexander" userId="cbab3422-1701-47c9-a4f0-14c0d221c31a" providerId="ADAL" clId="{08F91563-EC9C-6E4F-9C76-16A4DD33002B}" dt="2022-09-12T17:27:22.296" v="2705" actId="27636"/>
          <ac:spMkLst>
            <pc:docMk/>
            <pc:sldMk cId="2932663827" sldId="275"/>
            <ac:spMk id="2" creationId="{BD299FAD-1A58-5F0A-6277-6447C13CBAF2}"/>
          </ac:spMkLst>
        </pc:spChg>
        <pc:spChg chg="mod">
          <ac:chgData name="Craig Alexander" userId="cbab3422-1701-47c9-a4f0-14c0d221c31a" providerId="ADAL" clId="{08F91563-EC9C-6E4F-9C76-16A4DD33002B}" dt="2022-09-12T17:27:34.408" v="2707"/>
          <ac:spMkLst>
            <pc:docMk/>
            <pc:sldMk cId="2932663827" sldId="275"/>
            <ac:spMk id="3" creationId="{74A105FD-3906-1289-E2AF-5AA37F254EAD}"/>
          </ac:spMkLst>
        </pc:spChg>
      </pc:sldChg>
      <pc:sldChg chg="addSp delSp modSp mod">
        <pc:chgData name="Craig Alexander" userId="cbab3422-1701-47c9-a4f0-14c0d221c31a" providerId="ADAL" clId="{08F91563-EC9C-6E4F-9C76-16A4DD33002B}" dt="2022-09-12T17:28:10.312" v="2709"/>
        <pc:sldMkLst>
          <pc:docMk/>
          <pc:sldMk cId="3387424729" sldId="276"/>
        </pc:sldMkLst>
        <pc:spChg chg="mod">
          <ac:chgData name="Craig Alexander" userId="cbab3422-1701-47c9-a4f0-14c0d221c31a" providerId="ADAL" clId="{08F91563-EC9C-6E4F-9C76-16A4DD33002B}" dt="2022-09-12T17:28:10.312" v="2709"/>
          <ac:spMkLst>
            <pc:docMk/>
            <pc:sldMk cId="3387424729" sldId="276"/>
            <ac:spMk id="2" creationId="{8889720F-5872-DEAC-061D-107827C66916}"/>
          </ac:spMkLst>
        </pc:spChg>
        <pc:spChg chg="mod">
          <ac:chgData name="Craig Alexander" userId="cbab3422-1701-47c9-a4f0-14c0d221c31a" providerId="ADAL" clId="{08F91563-EC9C-6E4F-9C76-16A4DD33002B}" dt="2022-09-12T17:12:08.020" v="2552" actId="14100"/>
          <ac:spMkLst>
            <pc:docMk/>
            <pc:sldMk cId="3387424729" sldId="276"/>
            <ac:spMk id="3" creationId="{94744171-025C-D8A2-CAA6-08F9E5E619ED}"/>
          </ac:spMkLst>
        </pc:spChg>
        <pc:spChg chg="add mod">
          <ac:chgData name="Craig Alexander" userId="cbab3422-1701-47c9-a4f0-14c0d221c31a" providerId="ADAL" clId="{08F91563-EC9C-6E4F-9C76-16A4DD33002B}" dt="2022-09-12T17:12:45.037" v="2559" actId="20577"/>
          <ac:spMkLst>
            <pc:docMk/>
            <pc:sldMk cId="3387424729" sldId="276"/>
            <ac:spMk id="4" creationId="{3EFEA65D-6BB2-516C-8175-6A58B4A90505}"/>
          </ac:spMkLst>
        </pc:spChg>
        <pc:picChg chg="del">
          <ac:chgData name="Craig Alexander" userId="cbab3422-1701-47c9-a4f0-14c0d221c31a" providerId="ADAL" clId="{08F91563-EC9C-6E4F-9C76-16A4DD33002B}" dt="2022-09-06T11:32:23.147" v="127" actId="478"/>
          <ac:picMkLst>
            <pc:docMk/>
            <pc:sldMk cId="3387424729" sldId="276"/>
            <ac:picMk id="4" creationId="{7BD5BE7B-B411-335E-2DF5-9576D122813E}"/>
          </ac:picMkLst>
        </pc:picChg>
      </pc:sldChg>
      <pc:sldChg chg="addSp modSp mod">
        <pc:chgData name="Craig Alexander" userId="cbab3422-1701-47c9-a4f0-14c0d221c31a" providerId="ADAL" clId="{08F91563-EC9C-6E4F-9C76-16A4DD33002B}" dt="2022-09-12T17:29:19.728" v="2729"/>
        <pc:sldMkLst>
          <pc:docMk/>
          <pc:sldMk cId="1454477504" sldId="277"/>
        </pc:sldMkLst>
        <pc:spChg chg="mod">
          <ac:chgData name="Craig Alexander" userId="cbab3422-1701-47c9-a4f0-14c0d221c31a" providerId="ADAL" clId="{08F91563-EC9C-6E4F-9C76-16A4DD33002B}" dt="2022-09-12T17:29:19.728" v="2729"/>
          <ac:spMkLst>
            <pc:docMk/>
            <pc:sldMk cId="1454477504" sldId="277"/>
            <ac:spMk id="2" creationId="{014F1E3A-0286-EFD7-7979-11A989E6589F}"/>
          </ac:spMkLst>
        </pc:spChg>
        <pc:spChg chg="mod">
          <ac:chgData name="Craig Alexander" userId="cbab3422-1701-47c9-a4f0-14c0d221c31a" providerId="ADAL" clId="{08F91563-EC9C-6E4F-9C76-16A4DD33002B}" dt="2022-09-12T17:24:31.243" v="2676" actId="27636"/>
          <ac:spMkLst>
            <pc:docMk/>
            <pc:sldMk cId="1454477504" sldId="277"/>
            <ac:spMk id="3" creationId="{9A4FBC77-5226-9FE1-7A3F-90D48B8EBA5D}"/>
          </ac:spMkLst>
        </pc:spChg>
        <pc:spChg chg="add mod">
          <ac:chgData name="Craig Alexander" userId="cbab3422-1701-47c9-a4f0-14c0d221c31a" providerId="ADAL" clId="{08F91563-EC9C-6E4F-9C76-16A4DD33002B}" dt="2022-09-12T17:24:50.390" v="2680" actId="27636"/>
          <ac:spMkLst>
            <pc:docMk/>
            <pc:sldMk cId="1454477504" sldId="277"/>
            <ac:spMk id="4" creationId="{0CA14F8F-F06C-2647-6759-8BCBBF3132E3}"/>
          </ac:spMkLst>
        </pc:spChg>
      </pc:sldChg>
      <pc:sldChg chg="addSp modSp add mod">
        <pc:chgData name="Craig Alexander" userId="cbab3422-1701-47c9-a4f0-14c0d221c31a" providerId="ADAL" clId="{08F91563-EC9C-6E4F-9C76-16A4DD33002B}" dt="2022-09-12T17:28:58.739" v="2723"/>
        <pc:sldMkLst>
          <pc:docMk/>
          <pc:sldMk cId="3968235632" sldId="278"/>
        </pc:sldMkLst>
        <pc:spChg chg="mod">
          <ac:chgData name="Craig Alexander" userId="cbab3422-1701-47c9-a4f0-14c0d221c31a" providerId="ADAL" clId="{08F91563-EC9C-6E4F-9C76-16A4DD33002B}" dt="2022-09-12T17:28:58.739" v="2723"/>
          <ac:spMkLst>
            <pc:docMk/>
            <pc:sldMk cId="3968235632" sldId="278"/>
            <ac:spMk id="2" creationId="{53776E55-3638-0729-0197-38540D259C75}"/>
          </ac:spMkLst>
        </pc:spChg>
        <pc:spChg chg="add mod">
          <ac:chgData name="Craig Alexander" userId="cbab3422-1701-47c9-a4f0-14c0d221c31a" providerId="ADAL" clId="{08F91563-EC9C-6E4F-9C76-16A4DD33002B}" dt="2022-09-12T17:21:38.162" v="2662" actId="14100"/>
          <ac:spMkLst>
            <pc:docMk/>
            <pc:sldMk cId="3968235632" sldId="278"/>
            <ac:spMk id="3" creationId="{574CDF7F-2254-57E6-3917-9C2782531E15}"/>
          </ac:spMkLst>
        </pc:spChg>
        <pc:spChg chg="mod">
          <ac:chgData name="Craig Alexander" userId="cbab3422-1701-47c9-a4f0-14c0d221c31a" providerId="ADAL" clId="{08F91563-EC9C-6E4F-9C76-16A4DD33002B}" dt="2022-09-12T17:20:45.942" v="2653" actId="14100"/>
          <ac:spMkLst>
            <pc:docMk/>
            <pc:sldMk cId="3968235632" sldId="278"/>
            <ac:spMk id="8" creationId="{906ED9AE-6AAC-249A-F29D-A6E68CC00593}"/>
          </ac:spMkLst>
        </pc:spChg>
      </pc:sldChg>
      <pc:sldChg chg="add del">
        <pc:chgData name="Craig Alexander" userId="cbab3422-1701-47c9-a4f0-14c0d221c31a" providerId="ADAL" clId="{08F91563-EC9C-6E4F-9C76-16A4DD33002B}" dt="2022-09-08T11:59:50.257" v="1690" actId="2696"/>
        <pc:sldMkLst>
          <pc:docMk/>
          <pc:sldMk cId="3972729646" sldId="278"/>
        </pc:sldMkLst>
      </pc:sldChg>
      <pc:sldChg chg="modSp add mod">
        <pc:chgData name="Craig Alexander" userId="cbab3422-1701-47c9-a4f0-14c0d221c31a" providerId="ADAL" clId="{08F91563-EC9C-6E4F-9C76-16A4DD33002B}" dt="2022-09-12T17:30:01.772" v="2738"/>
        <pc:sldMkLst>
          <pc:docMk/>
          <pc:sldMk cId="1572578675" sldId="279"/>
        </pc:sldMkLst>
        <pc:spChg chg="mod">
          <ac:chgData name="Craig Alexander" userId="cbab3422-1701-47c9-a4f0-14c0d221c31a" providerId="ADAL" clId="{08F91563-EC9C-6E4F-9C76-16A4DD33002B}" dt="2022-09-12T17:30:01.772" v="2738"/>
          <ac:spMkLst>
            <pc:docMk/>
            <pc:sldMk cId="1572578675" sldId="279"/>
            <ac:spMk id="2" creationId="{2344D414-281A-04DB-3747-5D2DE781FB80}"/>
          </ac:spMkLst>
        </pc:spChg>
        <pc:spChg chg="mod">
          <ac:chgData name="Craig Alexander" userId="cbab3422-1701-47c9-a4f0-14c0d221c31a" providerId="ADAL" clId="{08F91563-EC9C-6E4F-9C76-16A4DD33002B}" dt="2022-09-08T12:30:18.569" v="2533" actId="20577"/>
          <ac:spMkLst>
            <pc:docMk/>
            <pc:sldMk cId="1572578675" sldId="279"/>
            <ac:spMk id="3" creationId="{DBD0EAD6-A310-9417-839D-1C7F822CD659}"/>
          </ac:spMkLst>
        </pc:spChg>
      </pc:sldChg>
    </pc:docChg>
  </pc:docChgLst>
  <pc:docChgLst>
    <pc:chgData name="Craig Alexander" userId="cbab3422-1701-47c9-a4f0-14c0d221c31a" providerId="ADAL" clId="{ADF63B2F-2444-594F-BFD2-A9031E26D9F4}"/>
    <pc:docChg chg="custSel delSld modSld">
      <pc:chgData name="Craig Alexander" userId="cbab3422-1701-47c9-a4f0-14c0d221c31a" providerId="ADAL" clId="{ADF63B2F-2444-594F-BFD2-A9031E26D9F4}" dt="2022-08-31T16:34:18.226" v="61" actId="255"/>
      <pc:docMkLst>
        <pc:docMk/>
      </pc:docMkLst>
      <pc:sldChg chg="modSp mod">
        <pc:chgData name="Craig Alexander" userId="cbab3422-1701-47c9-a4f0-14c0d221c31a" providerId="ADAL" clId="{ADF63B2F-2444-594F-BFD2-A9031E26D9F4}" dt="2022-08-30T15:13:43.730" v="0" actId="313"/>
        <pc:sldMkLst>
          <pc:docMk/>
          <pc:sldMk cId="1376347763" sldId="256"/>
        </pc:sldMkLst>
        <pc:spChg chg="mod">
          <ac:chgData name="Craig Alexander" userId="cbab3422-1701-47c9-a4f0-14c0d221c31a" providerId="ADAL" clId="{ADF63B2F-2444-594F-BFD2-A9031E26D9F4}" dt="2022-08-30T15:13:43.730" v="0" actId="313"/>
          <ac:spMkLst>
            <pc:docMk/>
            <pc:sldMk cId="1376347763" sldId="256"/>
            <ac:spMk id="2" creationId="{BD299FAD-1A58-5F0A-6277-6447C13CBAF2}"/>
          </ac:spMkLst>
        </pc:spChg>
      </pc:sldChg>
      <pc:sldChg chg="modSp mod">
        <pc:chgData name="Craig Alexander" userId="cbab3422-1701-47c9-a4f0-14c0d221c31a" providerId="ADAL" clId="{ADF63B2F-2444-594F-BFD2-A9031E26D9F4}" dt="2022-08-31T16:27:02.885" v="5" actId="20577"/>
        <pc:sldMkLst>
          <pc:docMk/>
          <pc:sldMk cId="2280224747" sldId="258"/>
        </pc:sldMkLst>
        <pc:spChg chg="mod">
          <ac:chgData name="Craig Alexander" userId="cbab3422-1701-47c9-a4f0-14c0d221c31a" providerId="ADAL" clId="{ADF63B2F-2444-594F-BFD2-A9031E26D9F4}" dt="2022-08-31T16:27:02.885" v="5" actId="20577"/>
          <ac:spMkLst>
            <pc:docMk/>
            <pc:sldMk cId="2280224747" sldId="258"/>
            <ac:spMk id="3" creationId="{3AE8A93E-27F4-1742-6C8B-E4C47806C278}"/>
          </ac:spMkLst>
        </pc:spChg>
      </pc:sldChg>
      <pc:sldChg chg="modSp mod">
        <pc:chgData name="Craig Alexander" userId="cbab3422-1701-47c9-a4f0-14c0d221c31a" providerId="ADAL" clId="{ADF63B2F-2444-594F-BFD2-A9031E26D9F4}" dt="2022-08-31T16:28:15.230" v="14" actId="20577"/>
        <pc:sldMkLst>
          <pc:docMk/>
          <pc:sldMk cId="1053634146" sldId="261"/>
        </pc:sldMkLst>
        <pc:spChg chg="mod">
          <ac:chgData name="Craig Alexander" userId="cbab3422-1701-47c9-a4f0-14c0d221c31a" providerId="ADAL" clId="{ADF63B2F-2444-594F-BFD2-A9031E26D9F4}" dt="2022-08-31T16:28:15.230" v="14" actId="20577"/>
          <ac:spMkLst>
            <pc:docMk/>
            <pc:sldMk cId="1053634146" sldId="261"/>
            <ac:spMk id="3" creationId="{411EE78E-119B-A48D-F55D-BF66A2494C54}"/>
          </ac:spMkLst>
        </pc:spChg>
      </pc:sldChg>
      <pc:sldChg chg="del">
        <pc:chgData name="Craig Alexander" userId="cbab3422-1701-47c9-a4f0-14c0d221c31a" providerId="ADAL" clId="{ADF63B2F-2444-594F-BFD2-A9031E26D9F4}" dt="2022-08-31T16:28:31.077" v="15" actId="2696"/>
        <pc:sldMkLst>
          <pc:docMk/>
          <pc:sldMk cId="364200640" sldId="262"/>
        </pc:sldMkLst>
      </pc:sldChg>
      <pc:sldChg chg="modSp mod">
        <pc:chgData name="Craig Alexander" userId="cbab3422-1701-47c9-a4f0-14c0d221c31a" providerId="ADAL" clId="{ADF63B2F-2444-594F-BFD2-A9031E26D9F4}" dt="2022-08-31T16:31:47.505" v="46" actId="27636"/>
        <pc:sldMkLst>
          <pc:docMk/>
          <pc:sldMk cId="2768814353" sldId="263"/>
        </pc:sldMkLst>
        <pc:spChg chg="mod">
          <ac:chgData name="Craig Alexander" userId="cbab3422-1701-47c9-a4f0-14c0d221c31a" providerId="ADAL" clId="{ADF63B2F-2444-594F-BFD2-A9031E26D9F4}" dt="2022-08-31T16:31:47.505" v="46" actId="27636"/>
          <ac:spMkLst>
            <pc:docMk/>
            <pc:sldMk cId="2768814353" sldId="263"/>
            <ac:spMk id="3" creationId="{87072473-2B3C-A9FB-C61D-92688D306BE7}"/>
          </ac:spMkLst>
        </pc:spChg>
      </pc:sldChg>
      <pc:sldChg chg="modSp mod">
        <pc:chgData name="Craig Alexander" userId="cbab3422-1701-47c9-a4f0-14c0d221c31a" providerId="ADAL" clId="{ADF63B2F-2444-594F-BFD2-A9031E26D9F4}" dt="2022-08-31T16:31:57.213" v="47" actId="1076"/>
        <pc:sldMkLst>
          <pc:docMk/>
          <pc:sldMk cId="3288161075" sldId="264"/>
        </pc:sldMkLst>
        <pc:spChg chg="mod">
          <ac:chgData name="Craig Alexander" userId="cbab3422-1701-47c9-a4f0-14c0d221c31a" providerId="ADAL" clId="{ADF63B2F-2444-594F-BFD2-A9031E26D9F4}" dt="2022-08-31T16:31:57.213" v="47" actId="1076"/>
          <ac:spMkLst>
            <pc:docMk/>
            <pc:sldMk cId="3288161075" sldId="264"/>
            <ac:spMk id="3" creationId="{87072473-2B3C-A9FB-C61D-92688D306BE7}"/>
          </ac:spMkLst>
        </pc:spChg>
      </pc:sldChg>
      <pc:sldChg chg="modSp mod">
        <pc:chgData name="Craig Alexander" userId="cbab3422-1701-47c9-a4f0-14c0d221c31a" providerId="ADAL" clId="{ADF63B2F-2444-594F-BFD2-A9031E26D9F4}" dt="2022-08-31T16:31:04.111" v="34" actId="255"/>
        <pc:sldMkLst>
          <pc:docMk/>
          <pc:sldMk cId="2879356640" sldId="269"/>
        </pc:sldMkLst>
        <pc:spChg chg="mod">
          <ac:chgData name="Craig Alexander" userId="cbab3422-1701-47c9-a4f0-14c0d221c31a" providerId="ADAL" clId="{ADF63B2F-2444-594F-BFD2-A9031E26D9F4}" dt="2022-08-31T16:31:04.111" v="34" actId="255"/>
          <ac:spMkLst>
            <pc:docMk/>
            <pc:sldMk cId="2879356640" sldId="269"/>
            <ac:spMk id="3" creationId="{CB740C7F-D13C-1C21-75A6-769FCDE35E7C}"/>
          </ac:spMkLst>
        </pc:spChg>
      </pc:sldChg>
      <pc:sldChg chg="modSp mod">
        <pc:chgData name="Craig Alexander" userId="cbab3422-1701-47c9-a4f0-14c0d221c31a" providerId="ADAL" clId="{ADF63B2F-2444-594F-BFD2-A9031E26D9F4}" dt="2022-08-31T16:33:27.452" v="57" actId="255"/>
        <pc:sldMkLst>
          <pc:docMk/>
          <pc:sldMk cId="257101642" sldId="270"/>
        </pc:sldMkLst>
        <pc:spChg chg="mod">
          <ac:chgData name="Craig Alexander" userId="cbab3422-1701-47c9-a4f0-14c0d221c31a" providerId="ADAL" clId="{ADF63B2F-2444-594F-BFD2-A9031E26D9F4}" dt="2022-08-31T16:33:27.452" v="57" actId="255"/>
          <ac:spMkLst>
            <pc:docMk/>
            <pc:sldMk cId="257101642" sldId="270"/>
            <ac:spMk id="3" creationId="{DBD0EAD6-A310-9417-839D-1C7F822CD659}"/>
          </ac:spMkLst>
        </pc:spChg>
      </pc:sldChg>
      <pc:sldChg chg="modSp mod">
        <pc:chgData name="Craig Alexander" userId="cbab3422-1701-47c9-a4f0-14c0d221c31a" providerId="ADAL" clId="{ADF63B2F-2444-594F-BFD2-A9031E26D9F4}" dt="2022-08-31T16:34:11.161" v="60" actId="255"/>
        <pc:sldMkLst>
          <pc:docMk/>
          <pc:sldMk cId="2505971960" sldId="271"/>
        </pc:sldMkLst>
        <pc:spChg chg="mod">
          <ac:chgData name="Craig Alexander" userId="cbab3422-1701-47c9-a4f0-14c0d221c31a" providerId="ADAL" clId="{ADF63B2F-2444-594F-BFD2-A9031E26D9F4}" dt="2022-08-31T16:34:11.161" v="60" actId="255"/>
          <ac:spMkLst>
            <pc:docMk/>
            <pc:sldMk cId="2505971960" sldId="271"/>
            <ac:spMk id="3" creationId="{DBD0EAD6-A310-9417-839D-1C7F822CD659}"/>
          </ac:spMkLst>
        </pc:spChg>
      </pc:sldChg>
      <pc:sldChg chg="modSp mod">
        <pc:chgData name="Craig Alexander" userId="cbab3422-1701-47c9-a4f0-14c0d221c31a" providerId="ADAL" clId="{ADF63B2F-2444-594F-BFD2-A9031E26D9F4}" dt="2022-08-31T16:34:18.226" v="61" actId="255"/>
        <pc:sldMkLst>
          <pc:docMk/>
          <pc:sldMk cId="2757844503" sldId="273"/>
        </pc:sldMkLst>
        <pc:spChg chg="mod">
          <ac:chgData name="Craig Alexander" userId="cbab3422-1701-47c9-a4f0-14c0d221c31a" providerId="ADAL" clId="{ADF63B2F-2444-594F-BFD2-A9031E26D9F4}" dt="2022-08-31T16:34:18.226" v="61" actId="255"/>
          <ac:spMkLst>
            <pc:docMk/>
            <pc:sldMk cId="2757844503" sldId="273"/>
            <ac:spMk id="3" creationId="{DBD0EAD6-A310-9417-839D-1C7F822CD659}"/>
          </ac:spMkLst>
        </pc:spChg>
      </pc:sldChg>
      <pc:sldChg chg="modSp mod">
        <pc:chgData name="Craig Alexander" userId="cbab3422-1701-47c9-a4f0-14c0d221c31a" providerId="ADAL" clId="{ADF63B2F-2444-594F-BFD2-A9031E26D9F4}" dt="2022-08-31T16:32:12.985" v="48" actId="255"/>
        <pc:sldMkLst>
          <pc:docMk/>
          <pc:sldMk cId="3387424729" sldId="276"/>
        </pc:sldMkLst>
        <pc:spChg chg="mod">
          <ac:chgData name="Craig Alexander" userId="cbab3422-1701-47c9-a4f0-14c0d221c31a" providerId="ADAL" clId="{ADF63B2F-2444-594F-BFD2-A9031E26D9F4}" dt="2022-08-31T16:32:12.985" v="48" actId="255"/>
          <ac:spMkLst>
            <pc:docMk/>
            <pc:sldMk cId="3387424729" sldId="276"/>
            <ac:spMk id="3" creationId="{94744171-025C-D8A2-CAA6-08F9E5E619ED}"/>
          </ac:spMkLst>
        </pc:spChg>
      </pc:sldChg>
      <pc:sldChg chg="modSp mod">
        <pc:chgData name="Craig Alexander" userId="cbab3422-1701-47c9-a4f0-14c0d221c31a" providerId="ADAL" clId="{ADF63B2F-2444-594F-BFD2-A9031E26D9F4}" dt="2022-08-31T16:32:36.566" v="51" actId="113"/>
        <pc:sldMkLst>
          <pc:docMk/>
          <pc:sldMk cId="1454477504" sldId="277"/>
        </pc:sldMkLst>
        <pc:spChg chg="mod">
          <ac:chgData name="Craig Alexander" userId="cbab3422-1701-47c9-a4f0-14c0d221c31a" providerId="ADAL" clId="{ADF63B2F-2444-594F-BFD2-A9031E26D9F4}" dt="2022-08-31T16:32:36.566" v="51" actId="113"/>
          <ac:spMkLst>
            <pc:docMk/>
            <pc:sldMk cId="1454477504" sldId="277"/>
            <ac:spMk id="3" creationId="{9A4FBC77-5226-9FE1-7A3F-90D48B8EBA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64B4D-21BC-D240-A84D-513E7DAC2054}" type="datetimeFigureOut">
              <a:rPr lang="en-US" smtClean="0"/>
              <a:t>9/12/22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77C44-B84B-E542-BF2D-6357B60562E8}" type="slidenum">
              <a:rPr lang="en-US" smtClean="0"/>
              <a:t>‹#›</a:t>
            </a:fld>
            <a:endParaRPr lang="en-US"/>
          </a:p>
        </p:txBody>
      </p:sp>
    </p:spTree>
    <p:extLst>
      <p:ext uri="{BB962C8B-B14F-4D97-AF65-F5344CB8AC3E}">
        <p14:creationId xmlns:p14="http://schemas.microsoft.com/office/powerpoint/2010/main" val="3580396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577C44-B84B-E542-BF2D-6357B60562E8}" type="slidenum">
              <a:rPr lang="en-US" smtClean="0"/>
              <a:t>8</a:t>
            </a:fld>
            <a:endParaRPr lang="en-US"/>
          </a:p>
        </p:txBody>
      </p:sp>
    </p:spTree>
    <p:extLst>
      <p:ext uri="{BB962C8B-B14F-4D97-AF65-F5344CB8AC3E}">
        <p14:creationId xmlns:p14="http://schemas.microsoft.com/office/powerpoint/2010/main" val="259063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577C44-B84B-E542-BF2D-6357B60562E8}" type="slidenum">
              <a:rPr lang="en-US" smtClean="0"/>
              <a:t>9</a:t>
            </a:fld>
            <a:endParaRPr lang="en-US"/>
          </a:p>
        </p:txBody>
      </p:sp>
    </p:spTree>
    <p:extLst>
      <p:ext uri="{BB962C8B-B14F-4D97-AF65-F5344CB8AC3E}">
        <p14:creationId xmlns:p14="http://schemas.microsoft.com/office/powerpoint/2010/main" val="1347121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9/12/22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9/12/22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9/12/22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9/12/22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6="http://schemas.microsoft.com/office/drawing/2014/main" xmlns:a14="http://schemas.microsoft.com/office/drawing/2010/main" xmlns:p14="http://schemas.microsoft.com/office/powerpoint/2010/main" xmlns="">
                  <a:solidFill>
                    <a:srgbClr val="FFFFFF"/>
                  </a:solidFill>
                </a14:hiddenFill>
              </a:ext>
            </a:extLst>
          </p:spPr>
        </p:pic>
      </p:grpSp>
      <p:pic>
        <p:nvPicPr>
          <p:cNvPr id="5" name="Picture 4">
            <a:extLst>
              <a:ext uri="{FF2B5EF4-FFF2-40B4-BE49-F238E27FC236}">
                <a16:creationId xmlns:a16="http://schemas.microsoft.com/office/drawing/2014/main" id="{1461629F-3068-49C9-E960-F5172E7B48DF}"/>
              </a:ext>
            </a:extLst>
          </p:cNvPr>
          <p:cNvPicPr>
            <a:picLocks noChangeAspect="1"/>
          </p:cNvPicPr>
          <p:nvPr/>
        </p:nvPicPr>
        <p:blipFill rotWithShape="1">
          <a:blip r:embed="rId4">
            <a:alphaModFix/>
          </a:blip>
          <a:srcRect t="17389" b="5269"/>
          <a:stretch/>
        </p:blipFill>
        <p:spPr>
          <a:xfrm>
            <a:off x="3611" y="7678"/>
            <a:ext cx="12188389" cy="6857990"/>
          </a:xfrm>
          <a:prstGeom prst="rect">
            <a:avLst/>
          </a:prstGeom>
        </p:spPr>
      </p:pic>
      <p:grpSp>
        <p:nvGrpSpPr>
          <p:cNvPr id="14" name="Group 13">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8"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9"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0"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1"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2"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3"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4"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5"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6"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27"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8"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9"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0"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1"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2"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3"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4"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5"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6"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BD299FAD-1A58-5F0A-6277-6447C13CBAF2}"/>
              </a:ext>
            </a:extLst>
          </p:cNvPr>
          <p:cNvSpPr>
            <a:spLocks noGrp="1"/>
          </p:cNvSpPr>
          <p:nvPr>
            <p:ph type="ctrTitle"/>
          </p:nvPr>
        </p:nvSpPr>
        <p:spPr>
          <a:xfrm>
            <a:off x="2653374" y="2608261"/>
            <a:ext cx="6858000" cy="1367896"/>
          </a:xfrm>
        </p:spPr>
        <p:txBody>
          <a:bodyPr>
            <a:noAutofit/>
          </a:bodyPr>
          <a:lstStyle/>
          <a:p>
            <a:pPr algn="ctr"/>
            <a:r>
              <a:rPr lang="en-US" sz="2300" dirty="0"/>
              <a:t>Investigating perceived student learning from peer review</a:t>
            </a:r>
            <a:br>
              <a:rPr lang="en-US" sz="2300" dirty="0"/>
            </a:br>
            <a:br>
              <a:rPr lang="en-US" sz="2300" dirty="0"/>
            </a:br>
            <a:r>
              <a:rPr lang="es-ES" sz="2300" dirty="0"/>
              <a:t>Investigar el aprendizaje estudiantil percibido a partir de la revisión por pares</a:t>
            </a:r>
            <a:endParaRPr lang="en-US" sz="2300" dirty="0"/>
          </a:p>
        </p:txBody>
      </p:sp>
      <p:sp>
        <p:nvSpPr>
          <p:cNvPr id="3" name="Subtitle 2">
            <a:extLst>
              <a:ext uri="{FF2B5EF4-FFF2-40B4-BE49-F238E27FC236}">
                <a16:creationId xmlns:a16="http://schemas.microsoft.com/office/drawing/2014/main" id="{74A105FD-3906-1289-E2AF-5AA37F254EAD}"/>
              </a:ext>
            </a:extLst>
          </p:cNvPr>
          <p:cNvSpPr>
            <a:spLocks noGrp="1"/>
          </p:cNvSpPr>
          <p:nvPr>
            <p:ph type="subTitle" idx="1"/>
          </p:nvPr>
        </p:nvSpPr>
        <p:spPr>
          <a:xfrm>
            <a:off x="2667000" y="4043624"/>
            <a:ext cx="6857999" cy="953029"/>
          </a:xfrm>
        </p:spPr>
        <p:txBody>
          <a:bodyPr>
            <a:normAutofit/>
          </a:bodyPr>
          <a:lstStyle/>
          <a:p>
            <a:pPr algn="ctr"/>
            <a:r>
              <a:rPr lang="en-US" dirty="0"/>
              <a:t>Marnie Low, </a:t>
            </a:r>
            <a:r>
              <a:rPr lang="en-US" b="1" u="sng" dirty="0"/>
              <a:t>Craig Alexander</a:t>
            </a:r>
            <a:r>
              <a:rPr lang="en-US" dirty="0"/>
              <a:t>, </a:t>
            </a:r>
            <a:r>
              <a:rPr lang="en-US" dirty="0" err="1"/>
              <a:t>Mitchum</a:t>
            </a:r>
            <a:r>
              <a:rPr lang="en-US" dirty="0"/>
              <a:t> Bock</a:t>
            </a:r>
          </a:p>
        </p:txBody>
      </p:sp>
    </p:spTree>
    <p:extLst>
      <p:ext uri="{BB962C8B-B14F-4D97-AF65-F5344CB8AC3E}">
        <p14:creationId xmlns:p14="http://schemas.microsoft.com/office/powerpoint/2010/main" val="1376347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20F-5872-DEAC-061D-107827C66916}"/>
              </a:ext>
            </a:extLst>
          </p:cNvPr>
          <p:cNvSpPr>
            <a:spLocks noGrp="1"/>
          </p:cNvSpPr>
          <p:nvPr>
            <p:ph type="title"/>
          </p:nvPr>
        </p:nvSpPr>
        <p:spPr/>
        <p:txBody>
          <a:bodyPr/>
          <a:lstStyle/>
          <a:p>
            <a:r>
              <a:rPr lang="en-US" dirty="0"/>
              <a:t>Introduction/</a:t>
            </a:r>
            <a:r>
              <a:rPr lang="es-ES" dirty="0"/>
              <a:t>Introducción</a:t>
            </a:r>
            <a:endParaRPr lang="en-US" dirty="0"/>
          </a:p>
        </p:txBody>
      </p:sp>
      <p:sp>
        <p:nvSpPr>
          <p:cNvPr id="3" name="Content Placeholder 2">
            <a:extLst>
              <a:ext uri="{FF2B5EF4-FFF2-40B4-BE49-F238E27FC236}">
                <a16:creationId xmlns:a16="http://schemas.microsoft.com/office/drawing/2014/main" id="{94744171-025C-D8A2-CAA6-08F9E5E619ED}"/>
              </a:ext>
            </a:extLst>
          </p:cNvPr>
          <p:cNvSpPr>
            <a:spLocks noGrp="1"/>
          </p:cNvSpPr>
          <p:nvPr>
            <p:ph idx="1"/>
          </p:nvPr>
        </p:nvSpPr>
        <p:spPr>
          <a:xfrm>
            <a:off x="1141413" y="2097088"/>
            <a:ext cx="4954588" cy="4142393"/>
          </a:xfrm>
        </p:spPr>
        <p:txBody>
          <a:bodyPr>
            <a:normAutofit fontScale="92500" lnSpcReduction="20000"/>
          </a:bodyPr>
          <a:lstStyle/>
          <a:p>
            <a:pPr marL="0" indent="0">
              <a:buNone/>
            </a:pPr>
            <a:endParaRPr lang="en-GB" sz="2200" dirty="0"/>
          </a:p>
          <a:p>
            <a:pPr lvl="1"/>
            <a:r>
              <a:rPr lang="en-GB" sz="2200" dirty="0"/>
              <a:t>Peer review is an active learning tool which allows students to provide feedback on their peers work. </a:t>
            </a:r>
          </a:p>
          <a:p>
            <a:pPr marL="457200" lvl="1" indent="0">
              <a:buNone/>
            </a:pPr>
            <a:endParaRPr lang="en-GB" sz="2200" dirty="0"/>
          </a:p>
          <a:p>
            <a:pPr lvl="1"/>
            <a:r>
              <a:rPr lang="en-GB" sz="2200" dirty="0"/>
              <a:t>It has several learning benefits such as internal feedback, critical thinking and problem solving.</a:t>
            </a:r>
          </a:p>
          <a:p>
            <a:pPr lvl="1"/>
            <a:endParaRPr lang="en-GB" sz="2200" dirty="0"/>
          </a:p>
          <a:p>
            <a:pPr lvl="1"/>
            <a:r>
              <a:rPr lang="en-GB" sz="2200" dirty="0"/>
              <a:t>Peer review is a tool that is not often used within statistics education.</a:t>
            </a:r>
            <a:br>
              <a:rPr lang="en-GB" sz="2200" b="1" dirty="0"/>
            </a:br>
            <a:endParaRPr lang="en-GB" sz="2200" dirty="0"/>
          </a:p>
          <a:p>
            <a:pPr marL="457200" lvl="1" indent="0">
              <a:buNone/>
            </a:pPr>
            <a:endParaRPr lang="en-GB" dirty="0"/>
          </a:p>
          <a:p>
            <a:endParaRPr lang="en-US" dirty="0"/>
          </a:p>
        </p:txBody>
      </p:sp>
      <p:sp>
        <p:nvSpPr>
          <p:cNvPr id="4" name="Content Placeholder 2">
            <a:extLst>
              <a:ext uri="{FF2B5EF4-FFF2-40B4-BE49-F238E27FC236}">
                <a16:creationId xmlns:a16="http://schemas.microsoft.com/office/drawing/2014/main" id="{3EFEA65D-6BB2-516C-8175-6A58B4A90505}"/>
              </a:ext>
            </a:extLst>
          </p:cNvPr>
          <p:cNvSpPr txBox="1">
            <a:spLocks/>
          </p:cNvSpPr>
          <p:nvPr/>
        </p:nvSpPr>
        <p:spPr>
          <a:xfrm>
            <a:off x="6094412" y="2111376"/>
            <a:ext cx="4954588" cy="414239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GB" sz="2200" dirty="0"/>
          </a:p>
          <a:p>
            <a:pPr lvl="1"/>
            <a:r>
              <a:rPr lang="es-ES" sz="2400" dirty="0"/>
              <a:t>La revisión por pares es una herramienta de aprendizaje activo que permite a los estudiantes proporcionar comentarios sobre el trabajo de sus compañeros. </a:t>
            </a:r>
          </a:p>
          <a:p>
            <a:pPr lvl="1"/>
            <a:r>
              <a:rPr lang="es-ES" sz="2400" dirty="0"/>
              <a:t>Tiene varios beneficios de aprendizaje, como retroalimentación interna, pensamiento crítico y resolución de problemas. </a:t>
            </a:r>
          </a:p>
          <a:p>
            <a:pPr lvl="1"/>
            <a:r>
              <a:rPr lang="es-ES" sz="2400" dirty="0"/>
              <a:t>La revisión por pares es una herramienta que no se usa a menudo en la educación estadística.</a:t>
            </a:r>
            <a:br>
              <a:rPr lang="en-GB" sz="2200" b="1" dirty="0"/>
            </a:br>
            <a:endParaRPr lang="en-GB" sz="2200" dirty="0"/>
          </a:p>
          <a:p>
            <a:pPr marL="457200" lvl="1" indent="0">
              <a:buFont typeface="Arial" panose="020B0604020202020204" pitchFamily="34" charset="0"/>
              <a:buNone/>
            </a:pPr>
            <a:endParaRPr lang="en-GB" dirty="0"/>
          </a:p>
          <a:p>
            <a:endParaRPr lang="en-US" dirty="0"/>
          </a:p>
        </p:txBody>
      </p:sp>
    </p:spTree>
    <p:extLst>
      <p:ext uri="{BB962C8B-B14F-4D97-AF65-F5344CB8AC3E}">
        <p14:creationId xmlns:p14="http://schemas.microsoft.com/office/powerpoint/2010/main" val="3387424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094D-4EC2-0EB7-CB3E-56B419F6988F}"/>
              </a:ext>
            </a:extLst>
          </p:cNvPr>
          <p:cNvSpPr>
            <a:spLocks noGrp="1"/>
          </p:cNvSpPr>
          <p:nvPr>
            <p:ph type="title"/>
          </p:nvPr>
        </p:nvSpPr>
        <p:spPr/>
        <p:txBody>
          <a:bodyPr/>
          <a:lstStyle/>
          <a:p>
            <a:r>
              <a:rPr lang="en-US" dirty="0"/>
              <a:t>Introduction/</a:t>
            </a:r>
            <a:r>
              <a:rPr lang="es-ES" dirty="0"/>
              <a:t>Introducción</a:t>
            </a:r>
            <a:endParaRPr lang="en-US" dirty="0"/>
          </a:p>
        </p:txBody>
      </p:sp>
      <p:sp>
        <p:nvSpPr>
          <p:cNvPr id="3" name="Content Placeholder 2">
            <a:extLst>
              <a:ext uri="{FF2B5EF4-FFF2-40B4-BE49-F238E27FC236}">
                <a16:creationId xmlns:a16="http://schemas.microsoft.com/office/drawing/2014/main" id="{3AE8A93E-27F4-1742-6C8B-E4C47806C278}"/>
              </a:ext>
            </a:extLst>
          </p:cNvPr>
          <p:cNvSpPr>
            <a:spLocks noGrp="1"/>
          </p:cNvSpPr>
          <p:nvPr>
            <p:ph idx="1"/>
          </p:nvPr>
        </p:nvSpPr>
        <p:spPr>
          <a:xfrm>
            <a:off x="1141413" y="2249486"/>
            <a:ext cx="4954588" cy="3989995"/>
          </a:xfrm>
        </p:spPr>
        <p:txBody>
          <a:bodyPr>
            <a:normAutofit fontScale="70000" lnSpcReduction="20000"/>
          </a:bodyPr>
          <a:lstStyle/>
          <a:p>
            <a:r>
              <a:rPr lang="en-US" dirty="0"/>
              <a:t>Our study looks at perceived student learning and internal feedback based on a peer review exercise in statistical education. </a:t>
            </a:r>
          </a:p>
          <a:p>
            <a:r>
              <a:rPr lang="en-GB" dirty="0"/>
              <a:t>This study is primarily motivated by Nicol and MacCallum’s (2022) study looking at internal feedback through peer review. </a:t>
            </a:r>
          </a:p>
          <a:p>
            <a:r>
              <a:rPr lang="en-GB" dirty="0"/>
              <a:t>They found that comparisons students made against comments received from peers didn’t add to feedback gained from comparing their work to peers’. </a:t>
            </a:r>
          </a:p>
          <a:p>
            <a:r>
              <a:rPr lang="en-GB" dirty="0"/>
              <a:t>To our knowledge there have not been any studies conducted looking into internal feedback and peer review in statistics education. </a:t>
            </a:r>
            <a:endParaRPr lang="en-US" dirty="0"/>
          </a:p>
        </p:txBody>
      </p:sp>
      <p:sp>
        <p:nvSpPr>
          <p:cNvPr id="4" name="Content Placeholder 2">
            <a:extLst>
              <a:ext uri="{FF2B5EF4-FFF2-40B4-BE49-F238E27FC236}">
                <a16:creationId xmlns:a16="http://schemas.microsoft.com/office/drawing/2014/main" id="{97183473-D69F-F802-96A1-DC01679EA74E}"/>
              </a:ext>
            </a:extLst>
          </p:cNvPr>
          <p:cNvSpPr txBox="1">
            <a:spLocks/>
          </p:cNvSpPr>
          <p:nvPr/>
        </p:nvSpPr>
        <p:spPr>
          <a:xfrm>
            <a:off x="6094412" y="2249486"/>
            <a:ext cx="4954588" cy="398999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sz="1500" dirty="0" err="1"/>
              <a:t>Nuestro</a:t>
            </a:r>
            <a:r>
              <a:rPr lang="en-US" sz="1500" dirty="0"/>
              <a:t> </a:t>
            </a:r>
            <a:r>
              <a:rPr lang="en-US" sz="1500" dirty="0" err="1"/>
              <a:t>estudio</a:t>
            </a:r>
            <a:r>
              <a:rPr lang="en-US" sz="1500" dirty="0"/>
              <a:t> </a:t>
            </a:r>
            <a:r>
              <a:rPr lang="en-US" sz="1500" dirty="0" err="1"/>
              <a:t>analiza</a:t>
            </a:r>
            <a:r>
              <a:rPr lang="en-US" sz="1500" dirty="0"/>
              <a:t> </a:t>
            </a:r>
            <a:r>
              <a:rPr lang="en-US" sz="1500" dirty="0" err="1"/>
              <a:t>el</a:t>
            </a:r>
            <a:r>
              <a:rPr lang="en-US" sz="1500" dirty="0"/>
              <a:t> </a:t>
            </a:r>
            <a:r>
              <a:rPr lang="en-US" sz="1500" dirty="0" err="1"/>
              <a:t>aprendizaje</a:t>
            </a:r>
            <a:r>
              <a:rPr lang="en-US" sz="1500" dirty="0"/>
              <a:t> </a:t>
            </a:r>
            <a:r>
              <a:rPr lang="en-US" sz="1500" dirty="0" err="1"/>
              <a:t>estudiantil</a:t>
            </a:r>
            <a:r>
              <a:rPr lang="en-US" sz="1500" dirty="0"/>
              <a:t> </a:t>
            </a:r>
            <a:r>
              <a:rPr lang="en-US" sz="1500" dirty="0" err="1"/>
              <a:t>percibido</a:t>
            </a:r>
            <a:r>
              <a:rPr lang="en-US" sz="1500" dirty="0"/>
              <a:t> y la </a:t>
            </a:r>
            <a:r>
              <a:rPr lang="en-US" sz="1500" dirty="0" err="1"/>
              <a:t>retroalimentación</a:t>
            </a:r>
            <a:r>
              <a:rPr lang="en-US" sz="1500" dirty="0"/>
              <a:t> interna </a:t>
            </a:r>
            <a:r>
              <a:rPr lang="en-US" sz="1500" dirty="0" err="1"/>
              <a:t>basada</a:t>
            </a:r>
            <a:r>
              <a:rPr lang="en-US" sz="1500" dirty="0"/>
              <a:t> </a:t>
            </a:r>
            <a:r>
              <a:rPr lang="en-US" sz="1500" dirty="0" err="1"/>
              <a:t>en</a:t>
            </a:r>
            <a:r>
              <a:rPr lang="en-US" sz="1500" dirty="0"/>
              <a:t> un </a:t>
            </a:r>
            <a:r>
              <a:rPr lang="en-US" sz="1500" dirty="0" err="1"/>
              <a:t>ejercicio</a:t>
            </a:r>
            <a:r>
              <a:rPr lang="en-US" sz="1500" dirty="0"/>
              <a:t> de </a:t>
            </a:r>
            <a:r>
              <a:rPr lang="en-US" sz="1500" dirty="0" err="1"/>
              <a:t>revisión</a:t>
            </a:r>
            <a:r>
              <a:rPr lang="en-US" sz="1500" dirty="0"/>
              <a:t> </a:t>
            </a:r>
            <a:r>
              <a:rPr lang="en-US" sz="1500" dirty="0" err="1"/>
              <a:t>por</a:t>
            </a:r>
            <a:r>
              <a:rPr lang="en-US" sz="1500" dirty="0"/>
              <a:t> pares </a:t>
            </a:r>
            <a:r>
              <a:rPr lang="en-US" sz="1500" dirty="0" err="1"/>
              <a:t>en</a:t>
            </a:r>
            <a:r>
              <a:rPr lang="en-US" sz="1500" dirty="0"/>
              <a:t> </a:t>
            </a:r>
            <a:r>
              <a:rPr lang="en-US" sz="1500" dirty="0" err="1"/>
              <a:t>educación</a:t>
            </a:r>
            <a:r>
              <a:rPr lang="en-US" sz="1500" dirty="0"/>
              <a:t> </a:t>
            </a:r>
            <a:r>
              <a:rPr lang="en-US" sz="1500" dirty="0" err="1"/>
              <a:t>estadística</a:t>
            </a:r>
            <a:r>
              <a:rPr lang="en-US" sz="1500" dirty="0"/>
              <a:t>.</a:t>
            </a:r>
          </a:p>
          <a:p>
            <a:r>
              <a:rPr lang="en-US" sz="1500" dirty="0"/>
              <a:t>Este </a:t>
            </a:r>
            <a:r>
              <a:rPr lang="en-US" sz="1500" dirty="0" err="1"/>
              <a:t>estudio</a:t>
            </a:r>
            <a:r>
              <a:rPr lang="en-US" sz="1500" dirty="0"/>
              <a:t> </a:t>
            </a:r>
            <a:r>
              <a:rPr lang="en-US" sz="1500" dirty="0" err="1"/>
              <a:t>está</a:t>
            </a:r>
            <a:r>
              <a:rPr lang="en-US" sz="1500" dirty="0"/>
              <a:t> </a:t>
            </a:r>
            <a:r>
              <a:rPr lang="en-US" sz="1500" dirty="0" err="1"/>
              <a:t>motivado</a:t>
            </a:r>
            <a:r>
              <a:rPr lang="en-US" sz="1500" dirty="0"/>
              <a:t> </a:t>
            </a:r>
            <a:r>
              <a:rPr lang="en-US" sz="1500" dirty="0" err="1"/>
              <a:t>principalmente</a:t>
            </a:r>
            <a:r>
              <a:rPr lang="en-US" sz="1500" dirty="0"/>
              <a:t> </a:t>
            </a:r>
            <a:r>
              <a:rPr lang="en-US" sz="1500" dirty="0" err="1"/>
              <a:t>por</a:t>
            </a:r>
            <a:r>
              <a:rPr lang="en-US" sz="1500" dirty="0"/>
              <a:t> </a:t>
            </a:r>
            <a:r>
              <a:rPr lang="en-US" sz="1500" dirty="0" err="1"/>
              <a:t>el</a:t>
            </a:r>
            <a:r>
              <a:rPr lang="en-US" sz="1500" dirty="0"/>
              <a:t> </a:t>
            </a:r>
            <a:r>
              <a:rPr lang="en-US" sz="1500" dirty="0" err="1"/>
              <a:t>estudio</a:t>
            </a:r>
            <a:r>
              <a:rPr lang="en-US" sz="1500" dirty="0"/>
              <a:t> de Nicol y MacCallum (2022) que </a:t>
            </a:r>
            <a:r>
              <a:rPr lang="en-US" sz="1500" dirty="0" err="1"/>
              <a:t>analiza</a:t>
            </a:r>
            <a:r>
              <a:rPr lang="en-US" sz="1500" dirty="0"/>
              <a:t> la </a:t>
            </a:r>
            <a:r>
              <a:rPr lang="en-US" sz="1500" dirty="0" err="1"/>
              <a:t>retroalimentación</a:t>
            </a:r>
            <a:r>
              <a:rPr lang="en-US" sz="1500" dirty="0"/>
              <a:t> interna a </a:t>
            </a:r>
            <a:r>
              <a:rPr lang="en-US" sz="1500" dirty="0" err="1"/>
              <a:t>través</a:t>
            </a:r>
            <a:r>
              <a:rPr lang="en-US" sz="1500" dirty="0"/>
              <a:t> de la </a:t>
            </a:r>
            <a:r>
              <a:rPr lang="en-US" sz="1500" dirty="0" err="1"/>
              <a:t>revisión</a:t>
            </a:r>
            <a:r>
              <a:rPr lang="en-US" sz="1500" dirty="0"/>
              <a:t> </a:t>
            </a:r>
            <a:r>
              <a:rPr lang="en-US" sz="1500" dirty="0" err="1"/>
              <a:t>por</a:t>
            </a:r>
            <a:r>
              <a:rPr lang="en-US" sz="1500" dirty="0"/>
              <a:t> pares.</a:t>
            </a:r>
          </a:p>
          <a:p>
            <a:r>
              <a:rPr lang="en-US" sz="1500" dirty="0" err="1"/>
              <a:t>Descubrieron</a:t>
            </a:r>
            <a:r>
              <a:rPr lang="en-US" sz="1500" dirty="0"/>
              <a:t> que las </a:t>
            </a:r>
            <a:r>
              <a:rPr lang="en-US" sz="1500" dirty="0" err="1"/>
              <a:t>comparaciones</a:t>
            </a:r>
            <a:r>
              <a:rPr lang="en-US" sz="1500" dirty="0"/>
              <a:t> que </a:t>
            </a:r>
            <a:r>
              <a:rPr lang="en-US" sz="1500" dirty="0" err="1"/>
              <a:t>hacían</a:t>
            </a:r>
            <a:r>
              <a:rPr lang="en-US" sz="1500" dirty="0"/>
              <a:t> </a:t>
            </a:r>
            <a:r>
              <a:rPr lang="en-US" sz="1500" dirty="0" err="1"/>
              <a:t>los</a:t>
            </a:r>
            <a:r>
              <a:rPr lang="en-US" sz="1500" dirty="0"/>
              <a:t> </a:t>
            </a:r>
            <a:r>
              <a:rPr lang="en-US" sz="1500" dirty="0" err="1"/>
              <a:t>estudiantes</a:t>
            </a:r>
            <a:r>
              <a:rPr lang="en-US" sz="1500" dirty="0"/>
              <a:t> con </a:t>
            </a:r>
            <a:r>
              <a:rPr lang="en-US" sz="1500" dirty="0" err="1"/>
              <a:t>los</a:t>
            </a:r>
            <a:r>
              <a:rPr lang="en-US" sz="1500" dirty="0"/>
              <a:t> </a:t>
            </a:r>
            <a:r>
              <a:rPr lang="en-US" sz="1500" dirty="0" err="1"/>
              <a:t>comentarios</a:t>
            </a:r>
            <a:r>
              <a:rPr lang="en-US" sz="1500" dirty="0"/>
              <a:t> </a:t>
            </a:r>
            <a:r>
              <a:rPr lang="en-US" sz="1500" dirty="0" err="1"/>
              <a:t>recibidos</a:t>
            </a:r>
            <a:r>
              <a:rPr lang="en-US" sz="1500" dirty="0"/>
              <a:t> de sus </a:t>
            </a:r>
            <a:r>
              <a:rPr lang="en-US" sz="1500" dirty="0" err="1"/>
              <a:t>compañeros</a:t>
            </a:r>
            <a:r>
              <a:rPr lang="en-US" sz="1500" dirty="0"/>
              <a:t> no se </a:t>
            </a:r>
            <a:r>
              <a:rPr lang="en-US" sz="1500" dirty="0" err="1"/>
              <a:t>sumaban</a:t>
            </a:r>
            <a:r>
              <a:rPr lang="en-US" sz="1500" dirty="0"/>
              <a:t> a la </a:t>
            </a:r>
            <a:r>
              <a:rPr lang="en-US" sz="1500" dirty="0" err="1"/>
              <a:t>retroalimentación</a:t>
            </a:r>
            <a:r>
              <a:rPr lang="en-US" sz="1500" dirty="0"/>
              <a:t> </a:t>
            </a:r>
            <a:r>
              <a:rPr lang="en-US" sz="1500" dirty="0" err="1"/>
              <a:t>obtenida</a:t>
            </a:r>
            <a:r>
              <a:rPr lang="en-US" sz="1500" dirty="0"/>
              <a:t> al </a:t>
            </a:r>
            <a:r>
              <a:rPr lang="en-US" sz="1500" dirty="0" err="1"/>
              <a:t>comparar</a:t>
            </a:r>
            <a:r>
              <a:rPr lang="en-US" sz="1500" dirty="0"/>
              <a:t> </a:t>
            </a:r>
            <a:r>
              <a:rPr lang="en-US" sz="1500" dirty="0" err="1"/>
              <a:t>su</a:t>
            </a:r>
            <a:r>
              <a:rPr lang="en-US" sz="1500" dirty="0"/>
              <a:t> </a:t>
            </a:r>
            <a:r>
              <a:rPr lang="en-US" sz="1500" dirty="0" err="1"/>
              <a:t>trabajo</a:t>
            </a:r>
            <a:r>
              <a:rPr lang="en-US" sz="1500" dirty="0"/>
              <a:t> con </a:t>
            </a:r>
            <a:r>
              <a:rPr lang="en-US" sz="1500" dirty="0" err="1"/>
              <a:t>el</a:t>
            </a:r>
            <a:r>
              <a:rPr lang="en-US" sz="1500" dirty="0"/>
              <a:t> de sus </a:t>
            </a:r>
            <a:r>
              <a:rPr lang="en-US" sz="1500" dirty="0" err="1"/>
              <a:t>compañeros</a:t>
            </a:r>
            <a:r>
              <a:rPr lang="en-US" sz="1500" dirty="0"/>
              <a:t>.</a:t>
            </a:r>
          </a:p>
          <a:p>
            <a:r>
              <a:rPr lang="en-US" sz="1500" dirty="0"/>
              <a:t>Hasta </a:t>
            </a:r>
            <a:r>
              <a:rPr lang="en-US" sz="1500" dirty="0" err="1"/>
              <a:t>donde</a:t>
            </a:r>
            <a:r>
              <a:rPr lang="en-US" sz="1500" dirty="0"/>
              <a:t> </a:t>
            </a:r>
            <a:r>
              <a:rPr lang="en-US" sz="1500" dirty="0" err="1"/>
              <a:t>sabemos</a:t>
            </a:r>
            <a:r>
              <a:rPr lang="en-US" sz="1500" dirty="0"/>
              <a:t>, no se </a:t>
            </a:r>
            <a:r>
              <a:rPr lang="en-US" sz="1500" dirty="0" err="1"/>
              <a:t>han</a:t>
            </a:r>
            <a:r>
              <a:rPr lang="en-US" sz="1500" dirty="0"/>
              <a:t> </a:t>
            </a:r>
            <a:r>
              <a:rPr lang="en-US" sz="1500" dirty="0" err="1"/>
              <a:t>realizado</a:t>
            </a:r>
            <a:r>
              <a:rPr lang="en-US" sz="1500" dirty="0"/>
              <a:t> </a:t>
            </a:r>
            <a:r>
              <a:rPr lang="en-US" sz="1500" dirty="0" err="1"/>
              <a:t>estudios</a:t>
            </a:r>
            <a:r>
              <a:rPr lang="en-US" sz="1500" dirty="0"/>
              <a:t> que </a:t>
            </a:r>
            <a:r>
              <a:rPr lang="en-US" sz="1500" dirty="0" err="1"/>
              <a:t>analicen</a:t>
            </a:r>
            <a:r>
              <a:rPr lang="en-US" sz="1500" dirty="0"/>
              <a:t> la </a:t>
            </a:r>
            <a:r>
              <a:rPr lang="en-US" sz="1500" dirty="0" err="1"/>
              <a:t>retroalimentación</a:t>
            </a:r>
            <a:r>
              <a:rPr lang="en-US" sz="1500" dirty="0"/>
              <a:t> interna y la </a:t>
            </a:r>
            <a:r>
              <a:rPr lang="en-US" sz="1500" dirty="0" err="1"/>
              <a:t>revisión</a:t>
            </a:r>
            <a:r>
              <a:rPr lang="en-US" sz="1500" dirty="0"/>
              <a:t> </a:t>
            </a:r>
            <a:r>
              <a:rPr lang="en-US" sz="1500" dirty="0" err="1"/>
              <a:t>por</a:t>
            </a:r>
            <a:r>
              <a:rPr lang="en-US" sz="1500" dirty="0"/>
              <a:t> pares </a:t>
            </a:r>
            <a:r>
              <a:rPr lang="en-US" sz="1500" dirty="0" err="1"/>
              <a:t>en</a:t>
            </a:r>
            <a:r>
              <a:rPr lang="en-US" sz="1500" dirty="0"/>
              <a:t> la </a:t>
            </a:r>
            <a:r>
              <a:rPr lang="en-US" sz="1500" dirty="0" err="1"/>
              <a:t>educación</a:t>
            </a:r>
            <a:r>
              <a:rPr lang="en-US" sz="1500" dirty="0"/>
              <a:t> </a:t>
            </a:r>
            <a:r>
              <a:rPr lang="en-US" sz="1500" dirty="0" err="1"/>
              <a:t>estadística</a:t>
            </a:r>
            <a:r>
              <a:rPr lang="en-US" sz="1500" dirty="0"/>
              <a:t>.</a:t>
            </a:r>
          </a:p>
        </p:txBody>
      </p:sp>
    </p:spTree>
    <p:extLst>
      <p:ext uri="{BB962C8B-B14F-4D97-AF65-F5344CB8AC3E}">
        <p14:creationId xmlns:p14="http://schemas.microsoft.com/office/powerpoint/2010/main" val="2280224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EF82-15CF-18AD-7C18-F53B5FA04B8A}"/>
              </a:ext>
            </a:extLst>
          </p:cNvPr>
          <p:cNvSpPr>
            <a:spLocks noGrp="1"/>
          </p:cNvSpPr>
          <p:nvPr>
            <p:ph type="title"/>
          </p:nvPr>
        </p:nvSpPr>
        <p:spPr/>
        <p:txBody>
          <a:bodyPr/>
          <a:lstStyle/>
          <a:p>
            <a:r>
              <a:rPr lang="en-US" dirty="0"/>
              <a:t>Study Design/</a:t>
            </a:r>
            <a:r>
              <a:rPr lang="en-US" dirty="0" err="1"/>
              <a:t>Diseño</a:t>
            </a:r>
            <a:r>
              <a:rPr lang="en-US" dirty="0"/>
              <a:t> del </a:t>
            </a:r>
            <a:r>
              <a:rPr lang="en-US" dirty="0" err="1"/>
              <a:t>estudio</a:t>
            </a:r>
            <a:endParaRPr lang="en-US" dirty="0"/>
          </a:p>
        </p:txBody>
      </p:sp>
      <p:sp>
        <p:nvSpPr>
          <p:cNvPr id="3" name="Content Placeholder 2">
            <a:extLst>
              <a:ext uri="{FF2B5EF4-FFF2-40B4-BE49-F238E27FC236}">
                <a16:creationId xmlns:a16="http://schemas.microsoft.com/office/drawing/2014/main" id="{411EE78E-119B-A48D-F55D-BF66A2494C54}"/>
              </a:ext>
            </a:extLst>
          </p:cNvPr>
          <p:cNvSpPr>
            <a:spLocks noGrp="1"/>
          </p:cNvSpPr>
          <p:nvPr>
            <p:ph idx="1"/>
          </p:nvPr>
        </p:nvSpPr>
        <p:spPr>
          <a:xfrm>
            <a:off x="1141413" y="2249487"/>
            <a:ext cx="4954588" cy="3541714"/>
          </a:xfrm>
        </p:spPr>
        <p:txBody>
          <a:bodyPr>
            <a:normAutofit fontScale="77500" lnSpcReduction="20000"/>
          </a:bodyPr>
          <a:lstStyle/>
          <a:p>
            <a:r>
              <a:rPr lang="en-US" dirty="0"/>
              <a:t>This study </a:t>
            </a:r>
            <a:r>
              <a:rPr lang="en-GB" dirty="0"/>
              <a:t>looks to explore how peer review contributes to perceived student learning in statistics education and how educators can stimulate students’ learning through internal feedback. </a:t>
            </a:r>
          </a:p>
          <a:p>
            <a:r>
              <a:rPr lang="en-GB" dirty="0"/>
              <a:t>In our study, we surveyed two cohorts of students. Both cohorts come from lab-based courses based purely on continuous assessment.</a:t>
            </a:r>
          </a:p>
          <a:p>
            <a:r>
              <a:rPr lang="en-GB" dirty="0"/>
              <a:t>Both courses are similar in content, focussing on practical data skills.</a:t>
            </a:r>
          </a:p>
          <a:p>
            <a:endParaRPr lang="en-US" dirty="0"/>
          </a:p>
        </p:txBody>
      </p:sp>
      <p:sp>
        <p:nvSpPr>
          <p:cNvPr id="4" name="Content Placeholder 2">
            <a:extLst>
              <a:ext uri="{FF2B5EF4-FFF2-40B4-BE49-F238E27FC236}">
                <a16:creationId xmlns:a16="http://schemas.microsoft.com/office/drawing/2014/main" id="{DD3C531A-6006-96C3-7379-DE896677016C}"/>
              </a:ext>
            </a:extLst>
          </p:cNvPr>
          <p:cNvSpPr txBox="1">
            <a:spLocks/>
          </p:cNvSpPr>
          <p:nvPr/>
        </p:nvSpPr>
        <p:spPr>
          <a:xfrm>
            <a:off x="6092823" y="2263774"/>
            <a:ext cx="4954588" cy="354171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Este </a:t>
            </a:r>
            <a:r>
              <a:rPr lang="en-US" dirty="0" err="1"/>
              <a:t>estudio</a:t>
            </a:r>
            <a:r>
              <a:rPr lang="en-US" dirty="0"/>
              <a:t> </a:t>
            </a:r>
            <a:r>
              <a:rPr lang="en-US" dirty="0" err="1"/>
              <a:t>busca</a:t>
            </a:r>
            <a:r>
              <a:rPr lang="en-US" dirty="0"/>
              <a:t> </a:t>
            </a:r>
            <a:r>
              <a:rPr lang="en-US" dirty="0" err="1"/>
              <a:t>explorar</a:t>
            </a:r>
            <a:r>
              <a:rPr lang="en-US" dirty="0"/>
              <a:t> </a:t>
            </a:r>
            <a:r>
              <a:rPr lang="en-US" dirty="0" err="1"/>
              <a:t>cómo</a:t>
            </a:r>
            <a:r>
              <a:rPr lang="en-US" dirty="0"/>
              <a:t> la </a:t>
            </a:r>
            <a:r>
              <a:rPr lang="en-US" dirty="0" err="1"/>
              <a:t>revisión</a:t>
            </a:r>
            <a:r>
              <a:rPr lang="en-US" dirty="0"/>
              <a:t> </a:t>
            </a:r>
            <a:r>
              <a:rPr lang="en-US" dirty="0" err="1"/>
              <a:t>por</a:t>
            </a:r>
            <a:r>
              <a:rPr lang="en-US" dirty="0"/>
              <a:t> pares </a:t>
            </a:r>
            <a:r>
              <a:rPr lang="en-US" dirty="0" err="1"/>
              <a:t>contribuye</a:t>
            </a:r>
            <a:r>
              <a:rPr lang="en-US" dirty="0"/>
              <a:t> a la </a:t>
            </a:r>
            <a:r>
              <a:rPr lang="en-US" dirty="0" err="1"/>
              <a:t>percepción</a:t>
            </a:r>
            <a:r>
              <a:rPr lang="en-US" dirty="0"/>
              <a:t> del </a:t>
            </a:r>
            <a:r>
              <a:rPr lang="en-US" dirty="0" err="1"/>
              <a:t>aprendizaje</a:t>
            </a:r>
            <a:r>
              <a:rPr lang="en-US" dirty="0"/>
              <a:t> de </a:t>
            </a:r>
            <a:r>
              <a:rPr lang="en-US" dirty="0" err="1"/>
              <a:t>los</a:t>
            </a:r>
            <a:r>
              <a:rPr lang="en-US" dirty="0"/>
              <a:t> </a:t>
            </a:r>
            <a:r>
              <a:rPr lang="en-US" dirty="0" err="1"/>
              <a:t>estudiantes</a:t>
            </a:r>
            <a:r>
              <a:rPr lang="en-US" dirty="0"/>
              <a:t> </a:t>
            </a:r>
            <a:r>
              <a:rPr lang="en-US" dirty="0" err="1"/>
              <a:t>en</a:t>
            </a:r>
            <a:r>
              <a:rPr lang="en-US" dirty="0"/>
              <a:t> la </a:t>
            </a:r>
            <a:r>
              <a:rPr lang="en-US" dirty="0" err="1"/>
              <a:t>educación</a:t>
            </a:r>
            <a:r>
              <a:rPr lang="en-US" dirty="0"/>
              <a:t> </a:t>
            </a:r>
            <a:r>
              <a:rPr lang="en-US" dirty="0" err="1"/>
              <a:t>estadística</a:t>
            </a:r>
            <a:r>
              <a:rPr lang="en-US" dirty="0"/>
              <a:t> y </a:t>
            </a:r>
            <a:r>
              <a:rPr lang="en-US" dirty="0" err="1"/>
              <a:t>cómo</a:t>
            </a:r>
            <a:r>
              <a:rPr lang="en-US" dirty="0"/>
              <a:t> </a:t>
            </a:r>
            <a:r>
              <a:rPr lang="en-US" dirty="0" err="1"/>
              <a:t>los</a:t>
            </a:r>
            <a:r>
              <a:rPr lang="en-US" dirty="0"/>
              <a:t> </a:t>
            </a:r>
            <a:r>
              <a:rPr lang="en-US" dirty="0" err="1"/>
              <a:t>educadores</a:t>
            </a:r>
            <a:r>
              <a:rPr lang="en-US" dirty="0"/>
              <a:t> </a:t>
            </a:r>
            <a:r>
              <a:rPr lang="en-US" dirty="0" err="1"/>
              <a:t>pueden</a:t>
            </a:r>
            <a:r>
              <a:rPr lang="en-US" dirty="0"/>
              <a:t> </a:t>
            </a:r>
            <a:r>
              <a:rPr lang="en-US" dirty="0" err="1"/>
              <a:t>estimular</a:t>
            </a:r>
            <a:r>
              <a:rPr lang="en-US" dirty="0"/>
              <a:t> </a:t>
            </a:r>
            <a:r>
              <a:rPr lang="en-US" dirty="0" err="1"/>
              <a:t>el</a:t>
            </a:r>
            <a:r>
              <a:rPr lang="en-US" dirty="0"/>
              <a:t> </a:t>
            </a:r>
            <a:r>
              <a:rPr lang="en-US" dirty="0" err="1"/>
              <a:t>aprendizaje</a:t>
            </a:r>
            <a:r>
              <a:rPr lang="en-US" dirty="0"/>
              <a:t> de </a:t>
            </a:r>
            <a:r>
              <a:rPr lang="en-US" dirty="0" err="1"/>
              <a:t>los</a:t>
            </a:r>
            <a:r>
              <a:rPr lang="en-US" dirty="0"/>
              <a:t> </a:t>
            </a:r>
            <a:r>
              <a:rPr lang="en-US" dirty="0" err="1"/>
              <a:t>estudiantes</a:t>
            </a:r>
            <a:r>
              <a:rPr lang="en-US" dirty="0"/>
              <a:t> a </a:t>
            </a:r>
            <a:r>
              <a:rPr lang="en-US" dirty="0" err="1"/>
              <a:t>través</a:t>
            </a:r>
            <a:r>
              <a:rPr lang="en-US" dirty="0"/>
              <a:t> de la </a:t>
            </a:r>
            <a:r>
              <a:rPr lang="en-US" dirty="0" err="1"/>
              <a:t>retroalimentación</a:t>
            </a:r>
            <a:r>
              <a:rPr lang="en-US" dirty="0"/>
              <a:t> interna.</a:t>
            </a:r>
          </a:p>
          <a:p>
            <a:r>
              <a:rPr lang="en-US" dirty="0" err="1"/>
              <a:t>En</a:t>
            </a:r>
            <a:r>
              <a:rPr lang="en-US" dirty="0"/>
              <a:t> </a:t>
            </a:r>
            <a:r>
              <a:rPr lang="en-US" dirty="0" err="1"/>
              <a:t>nuestro</a:t>
            </a:r>
            <a:r>
              <a:rPr lang="en-US" dirty="0"/>
              <a:t> </a:t>
            </a:r>
            <a:r>
              <a:rPr lang="en-US" dirty="0" err="1"/>
              <a:t>estudio</a:t>
            </a:r>
            <a:r>
              <a:rPr lang="en-US" dirty="0"/>
              <a:t>, </a:t>
            </a:r>
            <a:r>
              <a:rPr lang="en-US" dirty="0" err="1"/>
              <a:t>encuestamos</a:t>
            </a:r>
            <a:r>
              <a:rPr lang="en-US" dirty="0"/>
              <a:t> a dos </a:t>
            </a:r>
            <a:r>
              <a:rPr lang="en-US" dirty="0" err="1"/>
              <a:t>cohortes</a:t>
            </a:r>
            <a:r>
              <a:rPr lang="en-US" dirty="0"/>
              <a:t> de </a:t>
            </a:r>
            <a:r>
              <a:rPr lang="en-US" dirty="0" err="1"/>
              <a:t>estudiantes</a:t>
            </a:r>
            <a:r>
              <a:rPr lang="en-US" dirty="0"/>
              <a:t>. Ambas </a:t>
            </a:r>
            <a:r>
              <a:rPr lang="en-US" dirty="0" err="1"/>
              <a:t>cohortes</a:t>
            </a:r>
            <a:r>
              <a:rPr lang="en-US" dirty="0"/>
              <a:t> </a:t>
            </a:r>
            <a:r>
              <a:rPr lang="en-US" dirty="0" err="1"/>
              <a:t>provienen</a:t>
            </a:r>
            <a:r>
              <a:rPr lang="en-US" dirty="0"/>
              <a:t> de </a:t>
            </a:r>
            <a:r>
              <a:rPr lang="en-US" dirty="0" err="1"/>
              <a:t>cursos</a:t>
            </a:r>
            <a:r>
              <a:rPr lang="en-US" dirty="0"/>
              <a:t> de </a:t>
            </a:r>
            <a:r>
              <a:rPr lang="en-US" dirty="0" err="1"/>
              <a:t>laboratorio</a:t>
            </a:r>
            <a:r>
              <a:rPr lang="en-US" dirty="0"/>
              <a:t> </a:t>
            </a:r>
            <a:r>
              <a:rPr lang="en-US" dirty="0" err="1"/>
              <a:t>basados</a:t>
            </a:r>
            <a:r>
              <a:rPr lang="en-US" dirty="0"/>
              <a:t> ​​</a:t>
            </a:r>
            <a:r>
              <a:rPr lang="en-US" dirty="0" err="1"/>
              <a:t>únicamente</a:t>
            </a:r>
            <a:r>
              <a:rPr lang="en-US" dirty="0"/>
              <a:t> </a:t>
            </a:r>
            <a:r>
              <a:rPr lang="en-US" dirty="0" err="1"/>
              <a:t>en</a:t>
            </a:r>
            <a:r>
              <a:rPr lang="en-US" dirty="0"/>
              <a:t> la </a:t>
            </a:r>
            <a:r>
              <a:rPr lang="en-US" dirty="0" err="1"/>
              <a:t>evaluación</a:t>
            </a:r>
            <a:r>
              <a:rPr lang="en-US" dirty="0"/>
              <a:t> continua.</a:t>
            </a:r>
          </a:p>
          <a:p>
            <a:r>
              <a:rPr lang="en-US" dirty="0"/>
              <a:t>Ambos </a:t>
            </a:r>
            <a:r>
              <a:rPr lang="en-US" dirty="0" err="1"/>
              <a:t>cursos</a:t>
            </a:r>
            <a:r>
              <a:rPr lang="en-US" dirty="0"/>
              <a:t> son </a:t>
            </a:r>
            <a:r>
              <a:rPr lang="en-US" dirty="0" err="1"/>
              <a:t>similares</a:t>
            </a:r>
            <a:r>
              <a:rPr lang="en-US" dirty="0"/>
              <a:t> </a:t>
            </a:r>
            <a:r>
              <a:rPr lang="en-US" dirty="0" err="1"/>
              <a:t>en</a:t>
            </a:r>
            <a:r>
              <a:rPr lang="en-US" dirty="0"/>
              <a:t> </a:t>
            </a:r>
            <a:r>
              <a:rPr lang="en-US" dirty="0" err="1"/>
              <a:t>contenido</a:t>
            </a:r>
            <a:r>
              <a:rPr lang="en-US" dirty="0"/>
              <a:t>, </a:t>
            </a:r>
            <a:r>
              <a:rPr lang="en-US" dirty="0" err="1"/>
              <a:t>centrándose</a:t>
            </a:r>
            <a:r>
              <a:rPr lang="en-US" dirty="0"/>
              <a:t> </a:t>
            </a:r>
            <a:r>
              <a:rPr lang="en-US" dirty="0" err="1"/>
              <a:t>en</a:t>
            </a:r>
            <a:r>
              <a:rPr lang="en-US" dirty="0"/>
              <a:t> </a:t>
            </a:r>
            <a:r>
              <a:rPr lang="en-US" dirty="0" err="1"/>
              <a:t>habilidades</a:t>
            </a:r>
            <a:r>
              <a:rPr lang="en-US" dirty="0"/>
              <a:t> </a:t>
            </a:r>
            <a:r>
              <a:rPr lang="en-US" dirty="0" err="1"/>
              <a:t>prácticas</a:t>
            </a:r>
            <a:r>
              <a:rPr lang="en-US" dirty="0"/>
              <a:t> de </a:t>
            </a:r>
            <a:r>
              <a:rPr lang="en-US" dirty="0" err="1"/>
              <a:t>datos</a:t>
            </a:r>
            <a:r>
              <a:rPr lang="en-US" dirty="0"/>
              <a:t>.</a:t>
            </a:r>
          </a:p>
        </p:txBody>
      </p:sp>
    </p:spTree>
    <p:extLst>
      <p:ext uri="{BB962C8B-B14F-4D97-AF65-F5344CB8AC3E}">
        <p14:creationId xmlns:p14="http://schemas.microsoft.com/office/powerpoint/2010/main" val="2460738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EF82-15CF-18AD-7C18-F53B5FA04B8A}"/>
              </a:ext>
            </a:extLst>
          </p:cNvPr>
          <p:cNvSpPr>
            <a:spLocks noGrp="1"/>
          </p:cNvSpPr>
          <p:nvPr>
            <p:ph type="title"/>
          </p:nvPr>
        </p:nvSpPr>
        <p:spPr/>
        <p:txBody>
          <a:bodyPr/>
          <a:lstStyle/>
          <a:p>
            <a:r>
              <a:rPr lang="en-US" dirty="0"/>
              <a:t>Study design/</a:t>
            </a:r>
            <a:r>
              <a:rPr lang="en-US" dirty="0" err="1"/>
              <a:t>Diseño</a:t>
            </a:r>
            <a:r>
              <a:rPr lang="en-US" dirty="0"/>
              <a:t> del </a:t>
            </a:r>
            <a:r>
              <a:rPr lang="en-US" dirty="0" err="1"/>
              <a:t>estudio</a:t>
            </a:r>
            <a:endParaRPr lang="en-US" dirty="0"/>
          </a:p>
        </p:txBody>
      </p:sp>
      <p:graphicFrame>
        <p:nvGraphicFramePr>
          <p:cNvPr id="4" name="Content Placeholder 3">
            <a:extLst>
              <a:ext uri="{FF2B5EF4-FFF2-40B4-BE49-F238E27FC236}">
                <a16:creationId xmlns:a16="http://schemas.microsoft.com/office/drawing/2014/main" id="{126124E8-B33B-FEDD-2A10-25FCE1B01758}"/>
              </a:ext>
            </a:extLst>
          </p:cNvPr>
          <p:cNvGraphicFramePr>
            <a:graphicFrameLocks noGrp="1"/>
          </p:cNvGraphicFramePr>
          <p:nvPr>
            <p:ph idx="1"/>
            <p:extLst>
              <p:ext uri="{D42A27DB-BD31-4B8C-83A1-F6EECF244321}">
                <p14:modId xmlns:p14="http://schemas.microsoft.com/office/powerpoint/2010/main" val="1466315757"/>
              </p:ext>
            </p:extLst>
          </p:nvPr>
        </p:nvGraphicFramePr>
        <p:xfrm>
          <a:off x="1485900" y="1895675"/>
          <a:ext cx="8902699" cy="4370795"/>
        </p:xfrm>
        <a:graphic>
          <a:graphicData uri="http://schemas.openxmlformats.org/drawingml/2006/table">
            <a:tbl>
              <a:tblPr firstRow="1" firstCol="1" bandRow="1">
                <a:tableStyleId>{8FD4443E-F989-4FC4-A0C8-D5A2AF1F390B}</a:tableStyleId>
              </a:tblPr>
              <a:tblGrid>
                <a:gridCol w="3335913">
                  <a:extLst>
                    <a:ext uri="{9D8B030D-6E8A-4147-A177-3AD203B41FA5}">
                      <a16:colId xmlns:a16="http://schemas.microsoft.com/office/drawing/2014/main" val="3709440037"/>
                    </a:ext>
                  </a:extLst>
                </a:gridCol>
                <a:gridCol w="2807157">
                  <a:extLst>
                    <a:ext uri="{9D8B030D-6E8A-4147-A177-3AD203B41FA5}">
                      <a16:colId xmlns:a16="http://schemas.microsoft.com/office/drawing/2014/main" val="4111283976"/>
                    </a:ext>
                  </a:extLst>
                </a:gridCol>
                <a:gridCol w="2759629">
                  <a:extLst>
                    <a:ext uri="{9D8B030D-6E8A-4147-A177-3AD203B41FA5}">
                      <a16:colId xmlns:a16="http://schemas.microsoft.com/office/drawing/2014/main" val="2296118706"/>
                    </a:ext>
                  </a:extLst>
                </a:gridCol>
              </a:tblGrid>
              <a:tr h="272029">
                <a:tc>
                  <a:txBody>
                    <a:bodyPr/>
                    <a:lstStyle/>
                    <a:p>
                      <a:pPr indent="457200" algn="just"/>
                      <a:r>
                        <a:rPr lang="en-GB" sz="1600" dirty="0">
                          <a:effectLst/>
                        </a:rPr>
                        <a:t> </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Cohort 1 </a:t>
                      </a:r>
                      <a:endParaRPr lang="en-GB"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Cohort 2 </a:t>
                      </a:r>
                      <a:endParaRPr lang="en-GB"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37888276"/>
                  </a:ext>
                </a:extLst>
              </a:tr>
              <a:tr h="272029">
                <a:tc>
                  <a:txBody>
                    <a:bodyPr/>
                    <a:lstStyle/>
                    <a:p>
                      <a:pPr indent="457200" algn="l"/>
                      <a:r>
                        <a:rPr lang="en-GB" sz="1600" dirty="0">
                          <a:effectLst/>
                        </a:rPr>
                        <a:t>Course name/</a:t>
                      </a:r>
                      <a:r>
                        <a:rPr lang="es-ES" sz="1600" dirty="0"/>
                        <a:t>Nombre del curso</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Professional Skills</a:t>
                      </a:r>
                      <a:endParaRPr lang="en-GB"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Data Analysis Skills</a:t>
                      </a:r>
                      <a:endParaRPr lang="en-GB"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35471815"/>
                  </a:ext>
                </a:extLst>
              </a:tr>
              <a:tr h="544059">
                <a:tc>
                  <a:txBody>
                    <a:bodyPr/>
                    <a:lstStyle/>
                    <a:p>
                      <a:pPr indent="457200" algn="l"/>
                      <a:r>
                        <a:rPr lang="en-GB" sz="1600" dirty="0">
                          <a:effectLst/>
                        </a:rPr>
                        <a:t>Level of study/</a:t>
                      </a:r>
                      <a:r>
                        <a:rPr lang="es-ES" sz="1600" dirty="0">
                          <a:effectLst/>
                        </a:rPr>
                        <a:t>N</a:t>
                      </a:r>
                      <a:r>
                        <a:rPr lang="es-ES" sz="1600" dirty="0"/>
                        <a:t>ivel de estudio</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Undergraduate (Honours)</a:t>
                      </a:r>
                      <a:endParaRPr lang="en-GB"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Postgraduate (MSc)</a:t>
                      </a:r>
                      <a:endParaRPr lang="en-GB"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54616176"/>
                  </a:ext>
                </a:extLst>
              </a:tr>
              <a:tr h="544059">
                <a:tc>
                  <a:txBody>
                    <a:bodyPr/>
                    <a:lstStyle/>
                    <a:p>
                      <a:pPr indent="457200" algn="l"/>
                      <a:r>
                        <a:rPr lang="en-GB" sz="1600" dirty="0">
                          <a:effectLst/>
                        </a:rPr>
                        <a:t>Work being reviewed/</a:t>
                      </a:r>
                      <a:r>
                        <a:rPr lang="es-ES" sz="1600" dirty="0"/>
                        <a:t>Trabajo en revisión</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Recorded virtual presentation</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Statistical analysis plan</a:t>
                      </a:r>
                      <a:endParaRPr lang="en-GB"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2881864"/>
                  </a:ext>
                </a:extLst>
              </a:tr>
              <a:tr h="544059">
                <a:tc>
                  <a:txBody>
                    <a:bodyPr/>
                    <a:lstStyle/>
                    <a:p>
                      <a:pPr indent="457200" algn="l"/>
                      <a:r>
                        <a:rPr lang="en-GB" sz="1600" dirty="0">
                          <a:effectLst/>
                        </a:rPr>
                        <a:t>Peer review software used/</a:t>
                      </a:r>
                      <a:r>
                        <a:rPr lang="es-ES" sz="1600" dirty="0"/>
                        <a:t>Software de revisión por pares utilizado</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Moodle</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AROPA (Hamer, 2007)</a:t>
                      </a:r>
                      <a:endParaRPr lang="en-GB"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63950089"/>
                  </a:ext>
                </a:extLst>
              </a:tr>
              <a:tr h="544059">
                <a:tc>
                  <a:txBody>
                    <a:bodyPr/>
                    <a:lstStyle/>
                    <a:p>
                      <a:pPr indent="457200" algn="l"/>
                      <a:r>
                        <a:rPr lang="en-GB" sz="1600" dirty="0">
                          <a:effectLst/>
                        </a:rPr>
                        <a:t>No. reviews completed per student/</a:t>
                      </a:r>
                      <a:r>
                        <a:rPr lang="es-ES" sz="1600" dirty="0" err="1"/>
                        <a:t>Nº</a:t>
                      </a:r>
                      <a:r>
                        <a:rPr lang="es-ES" sz="1600" dirty="0"/>
                        <a:t> de revisiones completadas por alumno</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3</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3-4</a:t>
                      </a:r>
                      <a:endParaRPr lang="en-GB"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41391873"/>
                  </a:ext>
                </a:extLst>
              </a:tr>
              <a:tr h="544059">
                <a:tc>
                  <a:txBody>
                    <a:bodyPr/>
                    <a:lstStyle/>
                    <a:p>
                      <a:pPr indent="457200" algn="l"/>
                      <a:r>
                        <a:rPr lang="en-GB" sz="1600" dirty="0">
                          <a:effectLst/>
                        </a:rPr>
                        <a:t>No. responses (% of class)/</a:t>
                      </a:r>
                      <a:r>
                        <a:rPr lang="es-ES" sz="1600" dirty="0" err="1"/>
                        <a:t>Nº</a:t>
                      </a:r>
                      <a:r>
                        <a:rPr lang="es-ES" sz="1600" dirty="0"/>
                        <a:t> de respuestas (% de la clase)</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11 (16%)</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29 (35%)</a:t>
                      </a:r>
                      <a:endParaRPr lang="en-GB"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54165940"/>
                  </a:ext>
                </a:extLst>
              </a:tr>
              <a:tr h="591276">
                <a:tc>
                  <a:txBody>
                    <a:bodyPr/>
                    <a:lstStyle/>
                    <a:p>
                      <a:pPr indent="457200" algn="l"/>
                      <a:r>
                        <a:rPr lang="en-GB" sz="1600" dirty="0">
                          <a:effectLst/>
                        </a:rPr>
                        <a:t>Demographic of respondents/</a:t>
                      </a:r>
                      <a:r>
                        <a:rPr lang="es-ES" sz="1600" dirty="0"/>
                        <a:t>Demografía de los encuestados</a:t>
                      </a:r>
                      <a:endParaRPr lang="en-GB"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a:effectLst/>
                        </a:rPr>
                        <a:t>64% European, 36% Asian</a:t>
                      </a:r>
                      <a:endParaRPr lang="en-GB"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457200" algn="ctr"/>
                      <a:r>
                        <a:rPr lang="en-GB" sz="1600" dirty="0">
                          <a:effectLst/>
                        </a:rPr>
                        <a:t>7% European, 93% Asian</a:t>
                      </a:r>
                      <a:endParaRPr lang="en-GB"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032268"/>
                  </a:ext>
                </a:extLst>
              </a:tr>
            </a:tbl>
          </a:graphicData>
        </a:graphic>
      </p:graphicFrame>
    </p:spTree>
    <p:extLst>
      <p:ext uri="{BB962C8B-B14F-4D97-AF65-F5344CB8AC3E}">
        <p14:creationId xmlns:p14="http://schemas.microsoft.com/office/powerpoint/2010/main" val="1053634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A537-D7C6-37FA-4FEC-43A25FC6529F}"/>
              </a:ext>
            </a:extLst>
          </p:cNvPr>
          <p:cNvSpPr>
            <a:spLocks noGrp="1"/>
          </p:cNvSpPr>
          <p:nvPr>
            <p:ph type="title"/>
          </p:nvPr>
        </p:nvSpPr>
        <p:spPr/>
        <p:txBody>
          <a:bodyPr/>
          <a:lstStyle/>
          <a:p>
            <a:r>
              <a:rPr lang="en-US" dirty="0"/>
              <a:t>Study design/</a:t>
            </a:r>
            <a:r>
              <a:rPr lang="en-US" dirty="0" err="1"/>
              <a:t>Diseño</a:t>
            </a:r>
            <a:r>
              <a:rPr lang="en-US" dirty="0"/>
              <a:t> del </a:t>
            </a:r>
            <a:r>
              <a:rPr lang="en-US" dirty="0" err="1"/>
              <a:t>estudio</a:t>
            </a:r>
            <a:endParaRPr lang="en-US" dirty="0"/>
          </a:p>
        </p:txBody>
      </p:sp>
      <p:sp>
        <p:nvSpPr>
          <p:cNvPr id="3" name="Content Placeholder 2">
            <a:extLst>
              <a:ext uri="{FF2B5EF4-FFF2-40B4-BE49-F238E27FC236}">
                <a16:creationId xmlns:a16="http://schemas.microsoft.com/office/drawing/2014/main" id="{87072473-2B3C-A9FB-C61D-92688D306BE7}"/>
              </a:ext>
            </a:extLst>
          </p:cNvPr>
          <p:cNvSpPr>
            <a:spLocks noGrp="1"/>
          </p:cNvSpPr>
          <p:nvPr>
            <p:ph idx="1"/>
          </p:nvPr>
        </p:nvSpPr>
        <p:spPr>
          <a:xfrm>
            <a:off x="1141413" y="1993900"/>
            <a:ext cx="4954588" cy="4245581"/>
          </a:xfrm>
        </p:spPr>
        <p:txBody>
          <a:bodyPr>
            <a:normAutofit fontScale="92500" lnSpcReduction="10000"/>
          </a:bodyPr>
          <a:lstStyle/>
          <a:p>
            <a:r>
              <a:rPr lang="en-GB" dirty="0"/>
              <a:t>Both cohorts completed their reviews using a rubric designed by the course lecturer. This contained a series of Likert scale-based questions.</a:t>
            </a:r>
          </a:p>
          <a:p>
            <a:endParaRPr lang="en-GB" dirty="0"/>
          </a:p>
          <a:p>
            <a:r>
              <a:rPr lang="en-GB" dirty="0"/>
              <a:t>Following the peer review activity, the students were given the same questionnaire with subtle modifications to some questions to make these applicable to their work. </a:t>
            </a:r>
            <a:endParaRPr lang="en-US" dirty="0"/>
          </a:p>
        </p:txBody>
      </p:sp>
      <p:sp>
        <p:nvSpPr>
          <p:cNvPr id="4" name="Content Placeholder 2">
            <a:extLst>
              <a:ext uri="{FF2B5EF4-FFF2-40B4-BE49-F238E27FC236}">
                <a16:creationId xmlns:a16="http://schemas.microsoft.com/office/drawing/2014/main" id="{59962B57-CF2F-4796-1748-ECE9F588612B}"/>
              </a:ext>
            </a:extLst>
          </p:cNvPr>
          <p:cNvSpPr txBox="1">
            <a:spLocks/>
          </p:cNvSpPr>
          <p:nvPr/>
        </p:nvSpPr>
        <p:spPr>
          <a:xfrm>
            <a:off x="6091234" y="1993900"/>
            <a:ext cx="4954588" cy="424558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Ambas </a:t>
            </a:r>
            <a:r>
              <a:rPr lang="en-US" dirty="0" err="1"/>
              <a:t>cohortes</a:t>
            </a:r>
            <a:r>
              <a:rPr lang="en-US" dirty="0"/>
              <a:t> </a:t>
            </a:r>
            <a:r>
              <a:rPr lang="en-US" dirty="0" err="1"/>
              <a:t>completaron</a:t>
            </a:r>
            <a:r>
              <a:rPr lang="en-US" dirty="0"/>
              <a:t> sus </a:t>
            </a:r>
            <a:r>
              <a:rPr lang="en-US" dirty="0" err="1"/>
              <a:t>revisiones</a:t>
            </a:r>
            <a:r>
              <a:rPr lang="en-US" dirty="0"/>
              <a:t> </a:t>
            </a:r>
            <a:r>
              <a:rPr lang="en-US" dirty="0" err="1"/>
              <a:t>utilizando</a:t>
            </a:r>
            <a:r>
              <a:rPr lang="en-US" dirty="0"/>
              <a:t> </a:t>
            </a:r>
            <a:r>
              <a:rPr lang="en-US" dirty="0" err="1"/>
              <a:t>una</a:t>
            </a:r>
            <a:r>
              <a:rPr lang="en-US" dirty="0"/>
              <a:t> </a:t>
            </a:r>
            <a:r>
              <a:rPr lang="en-US" dirty="0" err="1"/>
              <a:t>rúbrica</a:t>
            </a:r>
            <a:r>
              <a:rPr lang="en-US" dirty="0"/>
              <a:t> </a:t>
            </a:r>
            <a:r>
              <a:rPr lang="en-US" dirty="0" err="1"/>
              <a:t>diseñada</a:t>
            </a:r>
            <a:r>
              <a:rPr lang="en-US" dirty="0"/>
              <a:t> </a:t>
            </a:r>
            <a:r>
              <a:rPr lang="en-US" dirty="0" err="1"/>
              <a:t>por</a:t>
            </a:r>
            <a:r>
              <a:rPr lang="en-US" dirty="0"/>
              <a:t> </a:t>
            </a:r>
            <a:r>
              <a:rPr lang="en-US" dirty="0" err="1"/>
              <a:t>el</a:t>
            </a:r>
            <a:r>
              <a:rPr lang="en-US" dirty="0"/>
              <a:t> </a:t>
            </a:r>
            <a:r>
              <a:rPr lang="en-US" dirty="0" err="1"/>
              <a:t>profesor</a:t>
            </a:r>
            <a:r>
              <a:rPr lang="en-US" dirty="0"/>
              <a:t> del </a:t>
            </a:r>
            <a:r>
              <a:rPr lang="en-US" dirty="0" err="1"/>
              <a:t>curso</a:t>
            </a:r>
            <a:r>
              <a:rPr lang="en-US" dirty="0"/>
              <a:t>. Este </a:t>
            </a:r>
            <a:r>
              <a:rPr lang="en-US" dirty="0" err="1"/>
              <a:t>contenía</a:t>
            </a:r>
            <a:r>
              <a:rPr lang="en-US" dirty="0"/>
              <a:t> </a:t>
            </a:r>
            <a:r>
              <a:rPr lang="en-US" dirty="0" err="1"/>
              <a:t>una</a:t>
            </a:r>
            <a:r>
              <a:rPr lang="en-US" dirty="0"/>
              <a:t> </a:t>
            </a:r>
            <a:r>
              <a:rPr lang="en-US" dirty="0" err="1"/>
              <a:t>serie</a:t>
            </a:r>
            <a:r>
              <a:rPr lang="en-US" dirty="0"/>
              <a:t> de </a:t>
            </a:r>
            <a:r>
              <a:rPr lang="en-US" dirty="0" err="1"/>
              <a:t>preguntas</a:t>
            </a:r>
            <a:r>
              <a:rPr lang="en-US" dirty="0"/>
              <a:t> </a:t>
            </a:r>
            <a:r>
              <a:rPr lang="en-US" dirty="0" err="1"/>
              <a:t>basadas</a:t>
            </a:r>
            <a:r>
              <a:rPr lang="en-US" dirty="0"/>
              <a:t> </a:t>
            </a:r>
            <a:r>
              <a:rPr lang="en-US" dirty="0" err="1"/>
              <a:t>en</a:t>
            </a:r>
            <a:r>
              <a:rPr lang="en-US" dirty="0"/>
              <a:t> </a:t>
            </a:r>
            <a:r>
              <a:rPr lang="en-US" dirty="0" err="1"/>
              <a:t>escalas</a:t>
            </a:r>
            <a:r>
              <a:rPr lang="en-US" dirty="0"/>
              <a:t> de Likert.</a:t>
            </a:r>
          </a:p>
          <a:p>
            <a:endParaRPr lang="en-US" dirty="0"/>
          </a:p>
          <a:p>
            <a:r>
              <a:rPr lang="en-US" dirty="0" err="1"/>
              <a:t>Después</a:t>
            </a:r>
            <a:r>
              <a:rPr lang="en-US" dirty="0"/>
              <a:t> de la </a:t>
            </a:r>
            <a:r>
              <a:rPr lang="en-US" dirty="0" err="1"/>
              <a:t>actividad</a:t>
            </a:r>
            <a:r>
              <a:rPr lang="en-US" dirty="0"/>
              <a:t> de </a:t>
            </a:r>
            <a:r>
              <a:rPr lang="en-US" dirty="0" err="1"/>
              <a:t>revisión</a:t>
            </a:r>
            <a:r>
              <a:rPr lang="en-US" dirty="0"/>
              <a:t> </a:t>
            </a:r>
            <a:r>
              <a:rPr lang="en-US" dirty="0" err="1"/>
              <a:t>por</a:t>
            </a:r>
            <a:r>
              <a:rPr lang="en-US" dirty="0"/>
              <a:t> pares, a </a:t>
            </a:r>
            <a:r>
              <a:rPr lang="en-US" dirty="0" err="1"/>
              <a:t>los</a:t>
            </a:r>
            <a:r>
              <a:rPr lang="en-US" dirty="0"/>
              <a:t> </a:t>
            </a:r>
            <a:r>
              <a:rPr lang="en-US" dirty="0" err="1"/>
              <a:t>estudiantes</a:t>
            </a:r>
            <a:r>
              <a:rPr lang="en-US" dirty="0"/>
              <a:t> se les </a:t>
            </a:r>
            <a:r>
              <a:rPr lang="en-US" dirty="0" err="1"/>
              <a:t>entregó</a:t>
            </a:r>
            <a:r>
              <a:rPr lang="en-US" dirty="0"/>
              <a:t> </a:t>
            </a:r>
            <a:r>
              <a:rPr lang="en-US" dirty="0" err="1"/>
              <a:t>el</a:t>
            </a:r>
            <a:r>
              <a:rPr lang="en-US" dirty="0"/>
              <a:t> </a:t>
            </a:r>
            <a:r>
              <a:rPr lang="en-US" dirty="0" err="1"/>
              <a:t>mismo</a:t>
            </a:r>
            <a:r>
              <a:rPr lang="en-US" dirty="0"/>
              <a:t> </a:t>
            </a:r>
            <a:r>
              <a:rPr lang="en-US" dirty="0" err="1"/>
              <a:t>cuestionario</a:t>
            </a:r>
            <a:r>
              <a:rPr lang="en-US" dirty="0"/>
              <a:t> con </a:t>
            </a:r>
            <a:r>
              <a:rPr lang="en-US" dirty="0" err="1"/>
              <a:t>modificaciones</a:t>
            </a:r>
            <a:r>
              <a:rPr lang="en-US" dirty="0"/>
              <a:t> </a:t>
            </a:r>
            <a:r>
              <a:rPr lang="en-US" dirty="0" err="1"/>
              <a:t>sutiles</a:t>
            </a:r>
            <a:r>
              <a:rPr lang="en-US" dirty="0"/>
              <a:t> a </a:t>
            </a:r>
            <a:r>
              <a:rPr lang="en-US" dirty="0" err="1"/>
              <a:t>algunas</a:t>
            </a:r>
            <a:r>
              <a:rPr lang="en-US" dirty="0"/>
              <a:t> </a:t>
            </a:r>
            <a:r>
              <a:rPr lang="en-US" dirty="0" err="1"/>
              <a:t>preguntas</a:t>
            </a:r>
            <a:r>
              <a:rPr lang="en-US" dirty="0"/>
              <a:t> para </a:t>
            </a:r>
            <a:r>
              <a:rPr lang="en-US" dirty="0" err="1"/>
              <a:t>hacerlas</a:t>
            </a:r>
            <a:r>
              <a:rPr lang="en-US" dirty="0"/>
              <a:t> </a:t>
            </a:r>
            <a:r>
              <a:rPr lang="en-US" dirty="0" err="1"/>
              <a:t>aplicables</a:t>
            </a:r>
            <a:r>
              <a:rPr lang="en-US" dirty="0"/>
              <a:t> a </a:t>
            </a:r>
            <a:r>
              <a:rPr lang="en-US" dirty="0" err="1"/>
              <a:t>su</a:t>
            </a:r>
            <a:r>
              <a:rPr lang="en-US" dirty="0"/>
              <a:t> </a:t>
            </a:r>
            <a:r>
              <a:rPr lang="en-US" dirty="0" err="1"/>
              <a:t>trabajo</a:t>
            </a:r>
            <a:r>
              <a:rPr lang="en-US" dirty="0"/>
              <a:t>.</a:t>
            </a:r>
          </a:p>
        </p:txBody>
      </p:sp>
    </p:spTree>
    <p:extLst>
      <p:ext uri="{BB962C8B-B14F-4D97-AF65-F5344CB8AC3E}">
        <p14:creationId xmlns:p14="http://schemas.microsoft.com/office/powerpoint/2010/main" val="2768814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A537-D7C6-37FA-4FEC-43A25FC6529F}"/>
              </a:ext>
            </a:extLst>
          </p:cNvPr>
          <p:cNvSpPr>
            <a:spLocks noGrp="1"/>
          </p:cNvSpPr>
          <p:nvPr>
            <p:ph type="title"/>
          </p:nvPr>
        </p:nvSpPr>
        <p:spPr/>
        <p:txBody>
          <a:bodyPr/>
          <a:lstStyle/>
          <a:p>
            <a:r>
              <a:rPr lang="en-US" dirty="0"/>
              <a:t>The questionnaire/El </a:t>
            </a:r>
            <a:r>
              <a:rPr lang="en-US" dirty="0" err="1"/>
              <a:t>cuestionario</a:t>
            </a:r>
            <a:r>
              <a:rPr lang="en-US" dirty="0"/>
              <a:t> </a:t>
            </a:r>
          </a:p>
        </p:txBody>
      </p:sp>
      <p:sp>
        <p:nvSpPr>
          <p:cNvPr id="3" name="Content Placeholder 2">
            <a:extLst>
              <a:ext uri="{FF2B5EF4-FFF2-40B4-BE49-F238E27FC236}">
                <a16:creationId xmlns:a16="http://schemas.microsoft.com/office/drawing/2014/main" id="{87072473-2B3C-A9FB-C61D-92688D306BE7}"/>
              </a:ext>
            </a:extLst>
          </p:cNvPr>
          <p:cNvSpPr>
            <a:spLocks noGrp="1"/>
          </p:cNvSpPr>
          <p:nvPr>
            <p:ph idx="1"/>
          </p:nvPr>
        </p:nvSpPr>
        <p:spPr>
          <a:xfrm>
            <a:off x="1141413" y="2097088"/>
            <a:ext cx="4954588" cy="3989995"/>
          </a:xfrm>
        </p:spPr>
        <p:txBody>
          <a:bodyPr>
            <a:normAutofit fontScale="85000" lnSpcReduction="20000"/>
          </a:bodyPr>
          <a:lstStyle/>
          <a:p>
            <a:r>
              <a:rPr lang="en-GB" dirty="0"/>
              <a:t>The questionnaire comprised of five sections: the first three related to perceived learning from the different stages of a peer review activity. </a:t>
            </a:r>
          </a:p>
          <a:p>
            <a:r>
              <a:rPr lang="en-GB" dirty="0"/>
              <a:t>The other two related to ways that peer reviewing might contribute to student learning compared to teacher feedback and concerns they may have about the activity. </a:t>
            </a:r>
          </a:p>
          <a:p>
            <a:r>
              <a:rPr lang="en-GB" dirty="0"/>
              <a:t>Within each section students were asked to rate a given set of statements using a Likert scale. </a:t>
            </a:r>
          </a:p>
        </p:txBody>
      </p:sp>
      <p:sp>
        <p:nvSpPr>
          <p:cNvPr id="4" name="Content Placeholder 2">
            <a:extLst>
              <a:ext uri="{FF2B5EF4-FFF2-40B4-BE49-F238E27FC236}">
                <a16:creationId xmlns:a16="http://schemas.microsoft.com/office/drawing/2014/main" id="{0514B75F-9370-09F2-8BBF-0886B895A4E4}"/>
              </a:ext>
            </a:extLst>
          </p:cNvPr>
          <p:cNvSpPr txBox="1">
            <a:spLocks/>
          </p:cNvSpPr>
          <p:nvPr/>
        </p:nvSpPr>
        <p:spPr>
          <a:xfrm>
            <a:off x="6221413" y="2097088"/>
            <a:ext cx="4954588" cy="398999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a:t>El </a:t>
            </a:r>
            <a:r>
              <a:rPr lang="en-GB" dirty="0" err="1"/>
              <a:t>cuestionario</a:t>
            </a:r>
            <a:r>
              <a:rPr lang="en-GB" dirty="0"/>
              <a:t> </a:t>
            </a:r>
            <a:r>
              <a:rPr lang="en-GB" dirty="0" err="1"/>
              <a:t>constaba</a:t>
            </a:r>
            <a:r>
              <a:rPr lang="en-GB" dirty="0"/>
              <a:t> de </a:t>
            </a:r>
            <a:r>
              <a:rPr lang="en-GB" dirty="0" err="1"/>
              <a:t>cinco</a:t>
            </a:r>
            <a:r>
              <a:rPr lang="en-GB" dirty="0"/>
              <a:t> </a:t>
            </a:r>
            <a:r>
              <a:rPr lang="en-GB" dirty="0" err="1"/>
              <a:t>secciones</a:t>
            </a:r>
            <a:r>
              <a:rPr lang="en-GB" dirty="0"/>
              <a:t>: las </a:t>
            </a:r>
            <a:r>
              <a:rPr lang="en-GB" dirty="0" err="1"/>
              <a:t>tres</a:t>
            </a:r>
            <a:r>
              <a:rPr lang="en-GB" dirty="0"/>
              <a:t> </a:t>
            </a:r>
            <a:r>
              <a:rPr lang="en-GB" dirty="0" err="1"/>
              <a:t>primeras</a:t>
            </a:r>
            <a:r>
              <a:rPr lang="en-GB" dirty="0"/>
              <a:t> </a:t>
            </a:r>
            <a:r>
              <a:rPr lang="en-GB" dirty="0" err="1"/>
              <a:t>relacionadas</a:t>
            </a:r>
            <a:r>
              <a:rPr lang="en-GB" dirty="0"/>
              <a:t> con </a:t>
            </a:r>
            <a:r>
              <a:rPr lang="en-GB" dirty="0" err="1"/>
              <a:t>el</a:t>
            </a:r>
            <a:r>
              <a:rPr lang="en-GB" dirty="0"/>
              <a:t> </a:t>
            </a:r>
            <a:r>
              <a:rPr lang="en-GB" dirty="0" err="1"/>
              <a:t>aprendizaje</a:t>
            </a:r>
            <a:r>
              <a:rPr lang="en-GB" dirty="0"/>
              <a:t> </a:t>
            </a:r>
            <a:r>
              <a:rPr lang="en-GB" dirty="0" err="1"/>
              <a:t>percibido</a:t>
            </a:r>
            <a:r>
              <a:rPr lang="en-GB" dirty="0"/>
              <a:t> de las </a:t>
            </a:r>
            <a:r>
              <a:rPr lang="en-GB" dirty="0" err="1"/>
              <a:t>diferentes</a:t>
            </a:r>
            <a:r>
              <a:rPr lang="en-GB" dirty="0"/>
              <a:t> </a:t>
            </a:r>
            <a:r>
              <a:rPr lang="en-GB" dirty="0" err="1"/>
              <a:t>etapas</a:t>
            </a:r>
            <a:r>
              <a:rPr lang="en-GB" dirty="0"/>
              <a:t> de </a:t>
            </a:r>
            <a:r>
              <a:rPr lang="en-GB" dirty="0" err="1"/>
              <a:t>una</a:t>
            </a:r>
            <a:r>
              <a:rPr lang="en-GB" dirty="0"/>
              <a:t> </a:t>
            </a:r>
            <a:r>
              <a:rPr lang="en-GB" dirty="0" err="1"/>
              <a:t>actividad</a:t>
            </a:r>
            <a:r>
              <a:rPr lang="en-GB" dirty="0"/>
              <a:t> de </a:t>
            </a:r>
            <a:r>
              <a:rPr lang="en-GB" dirty="0" err="1"/>
              <a:t>revisión</a:t>
            </a:r>
            <a:r>
              <a:rPr lang="en-GB" dirty="0"/>
              <a:t> </a:t>
            </a:r>
            <a:r>
              <a:rPr lang="en-GB" dirty="0" err="1"/>
              <a:t>por</a:t>
            </a:r>
            <a:r>
              <a:rPr lang="en-GB" dirty="0"/>
              <a:t> pares.</a:t>
            </a:r>
          </a:p>
          <a:p>
            <a:r>
              <a:rPr lang="en-GB" dirty="0"/>
              <a:t>Los </a:t>
            </a:r>
            <a:r>
              <a:rPr lang="en-GB" dirty="0" err="1"/>
              <a:t>otros</a:t>
            </a:r>
            <a:r>
              <a:rPr lang="en-GB" dirty="0"/>
              <a:t> dos se </a:t>
            </a:r>
            <a:r>
              <a:rPr lang="en-GB" dirty="0" err="1"/>
              <a:t>relacionaron</a:t>
            </a:r>
            <a:r>
              <a:rPr lang="en-GB" dirty="0"/>
              <a:t> con las </a:t>
            </a:r>
            <a:r>
              <a:rPr lang="en-GB" dirty="0" err="1"/>
              <a:t>formas</a:t>
            </a:r>
            <a:r>
              <a:rPr lang="en-GB" dirty="0"/>
              <a:t> </a:t>
            </a:r>
            <a:r>
              <a:rPr lang="en-GB" dirty="0" err="1"/>
              <a:t>en</a:t>
            </a:r>
            <a:r>
              <a:rPr lang="en-GB" dirty="0"/>
              <a:t> que la </a:t>
            </a:r>
            <a:r>
              <a:rPr lang="en-GB" dirty="0" err="1"/>
              <a:t>revisión</a:t>
            </a:r>
            <a:r>
              <a:rPr lang="en-GB" dirty="0"/>
              <a:t> </a:t>
            </a:r>
            <a:r>
              <a:rPr lang="en-GB" dirty="0" err="1"/>
              <a:t>por</a:t>
            </a:r>
            <a:r>
              <a:rPr lang="en-GB" dirty="0"/>
              <a:t> pares </a:t>
            </a:r>
            <a:r>
              <a:rPr lang="en-GB" dirty="0" err="1"/>
              <a:t>podría</a:t>
            </a:r>
            <a:r>
              <a:rPr lang="en-GB" dirty="0"/>
              <a:t> </a:t>
            </a:r>
            <a:r>
              <a:rPr lang="en-GB" dirty="0" err="1"/>
              <a:t>contribuir</a:t>
            </a:r>
            <a:r>
              <a:rPr lang="en-GB" dirty="0"/>
              <a:t> al </a:t>
            </a:r>
            <a:r>
              <a:rPr lang="en-GB" dirty="0" err="1"/>
              <a:t>aprendizaje</a:t>
            </a:r>
            <a:r>
              <a:rPr lang="en-GB" dirty="0"/>
              <a:t> de </a:t>
            </a:r>
            <a:r>
              <a:rPr lang="en-GB" dirty="0" err="1"/>
              <a:t>los</a:t>
            </a:r>
            <a:r>
              <a:rPr lang="en-GB" dirty="0"/>
              <a:t> </a:t>
            </a:r>
            <a:r>
              <a:rPr lang="en-GB" dirty="0" err="1"/>
              <a:t>estudiantes</a:t>
            </a:r>
            <a:r>
              <a:rPr lang="en-GB" dirty="0"/>
              <a:t> </a:t>
            </a:r>
            <a:r>
              <a:rPr lang="en-GB" dirty="0" err="1"/>
              <a:t>en</a:t>
            </a:r>
            <a:r>
              <a:rPr lang="en-GB" dirty="0"/>
              <a:t> </a:t>
            </a:r>
            <a:r>
              <a:rPr lang="en-GB" dirty="0" err="1"/>
              <a:t>comparación</a:t>
            </a:r>
            <a:r>
              <a:rPr lang="en-GB" dirty="0"/>
              <a:t> con </a:t>
            </a:r>
            <a:r>
              <a:rPr lang="en-GB" dirty="0" err="1"/>
              <a:t>los</a:t>
            </a:r>
            <a:r>
              <a:rPr lang="en-GB" dirty="0"/>
              <a:t> </a:t>
            </a:r>
            <a:r>
              <a:rPr lang="en-GB" dirty="0" err="1"/>
              <a:t>comentarios</a:t>
            </a:r>
            <a:r>
              <a:rPr lang="en-GB" dirty="0"/>
              <a:t> de </a:t>
            </a:r>
            <a:r>
              <a:rPr lang="en-GB" dirty="0" err="1"/>
              <a:t>los</a:t>
            </a:r>
            <a:r>
              <a:rPr lang="en-GB" dirty="0"/>
              <a:t> maestros y las </a:t>
            </a:r>
            <a:r>
              <a:rPr lang="en-GB" dirty="0" err="1"/>
              <a:t>preocupaciones</a:t>
            </a:r>
            <a:r>
              <a:rPr lang="en-GB" dirty="0"/>
              <a:t> que </a:t>
            </a:r>
            <a:r>
              <a:rPr lang="en-GB" dirty="0" err="1"/>
              <a:t>puedan</a:t>
            </a:r>
            <a:r>
              <a:rPr lang="en-GB" dirty="0"/>
              <a:t> </a:t>
            </a:r>
            <a:r>
              <a:rPr lang="en-GB" dirty="0" err="1"/>
              <a:t>tener</a:t>
            </a:r>
            <a:r>
              <a:rPr lang="en-GB" dirty="0"/>
              <a:t> </a:t>
            </a:r>
            <a:r>
              <a:rPr lang="en-GB" dirty="0" err="1"/>
              <a:t>sobre</a:t>
            </a:r>
            <a:r>
              <a:rPr lang="en-GB" dirty="0"/>
              <a:t> la </a:t>
            </a:r>
            <a:r>
              <a:rPr lang="en-GB" dirty="0" err="1"/>
              <a:t>actividad</a:t>
            </a:r>
            <a:r>
              <a:rPr lang="en-GB" dirty="0"/>
              <a:t>.</a:t>
            </a:r>
          </a:p>
          <a:p>
            <a:r>
              <a:rPr lang="en-GB" dirty="0" err="1"/>
              <a:t>Dentro</a:t>
            </a:r>
            <a:r>
              <a:rPr lang="en-GB" dirty="0"/>
              <a:t> de </a:t>
            </a:r>
            <a:r>
              <a:rPr lang="en-GB" dirty="0" err="1"/>
              <a:t>cada</a:t>
            </a:r>
            <a:r>
              <a:rPr lang="en-GB" dirty="0"/>
              <a:t> </a:t>
            </a:r>
            <a:r>
              <a:rPr lang="en-GB" dirty="0" err="1"/>
              <a:t>sección</a:t>
            </a:r>
            <a:r>
              <a:rPr lang="en-GB" dirty="0"/>
              <a:t>, se </a:t>
            </a:r>
            <a:r>
              <a:rPr lang="en-GB" dirty="0" err="1"/>
              <a:t>pidió</a:t>
            </a:r>
            <a:r>
              <a:rPr lang="en-GB" dirty="0"/>
              <a:t> a </a:t>
            </a:r>
            <a:r>
              <a:rPr lang="en-GB" dirty="0" err="1"/>
              <a:t>los</a:t>
            </a:r>
            <a:r>
              <a:rPr lang="en-GB" dirty="0"/>
              <a:t> </a:t>
            </a:r>
            <a:r>
              <a:rPr lang="en-GB" dirty="0" err="1"/>
              <a:t>estudiantes</a:t>
            </a:r>
            <a:r>
              <a:rPr lang="en-GB" dirty="0"/>
              <a:t> que </a:t>
            </a:r>
            <a:r>
              <a:rPr lang="en-GB" dirty="0" err="1"/>
              <a:t>calificaran</a:t>
            </a:r>
            <a:r>
              <a:rPr lang="en-GB" dirty="0"/>
              <a:t> un conjunto dado de </a:t>
            </a:r>
            <a:r>
              <a:rPr lang="en-GB" dirty="0" err="1"/>
              <a:t>afirmaciones</a:t>
            </a:r>
            <a:r>
              <a:rPr lang="en-GB" dirty="0"/>
              <a:t> </a:t>
            </a:r>
            <a:r>
              <a:rPr lang="en-GB" dirty="0" err="1"/>
              <a:t>utilizando</a:t>
            </a:r>
            <a:r>
              <a:rPr lang="en-GB" dirty="0"/>
              <a:t> </a:t>
            </a:r>
            <a:r>
              <a:rPr lang="en-GB" dirty="0" err="1"/>
              <a:t>una</a:t>
            </a:r>
            <a:r>
              <a:rPr lang="en-GB" dirty="0"/>
              <a:t> </a:t>
            </a:r>
            <a:r>
              <a:rPr lang="en-GB" dirty="0" err="1"/>
              <a:t>escala</a:t>
            </a:r>
            <a:r>
              <a:rPr lang="en-GB" dirty="0"/>
              <a:t> de Likert.</a:t>
            </a:r>
          </a:p>
        </p:txBody>
      </p:sp>
    </p:spTree>
    <p:extLst>
      <p:ext uri="{BB962C8B-B14F-4D97-AF65-F5344CB8AC3E}">
        <p14:creationId xmlns:p14="http://schemas.microsoft.com/office/powerpoint/2010/main" val="328816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6E55-3638-0729-0197-38540D259C75}"/>
              </a:ext>
            </a:extLst>
          </p:cNvPr>
          <p:cNvSpPr>
            <a:spLocks noGrp="1"/>
          </p:cNvSpPr>
          <p:nvPr>
            <p:ph type="title"/>
          </p:nvPr>
        </p:nvSpPr>
        <p:spPr/>
        <p:txBody>
          <a:bodyPr/>
          <a:lstStyle/>
          <a:p>
            <a:r>
              <a:rPr lang="en-US" dirty="0"/>
              <a:t>The questionnaire/El </a:t>
            </a:r>
            <a:r>
              <a:rPr lang="en-US" dirty="0" err="1"/>
              <a:t>cuestionario</a:t>
            </a:r>
            <a:endParaRPr lang="en-US" dirty="0"/>
          </a:p>
        </p:txBody>
      </p:sp>
      <p:sp>
        <p:nvSpPr>
          <p:cNvPr id="8" name="Content Placeholder 7">
            <a:extLst>
              <a:ext uri="{FF2B5EF4-FFF2-40B4-BE49-F238E27FC236}">
                <a16:creationId xmlns:a16="http://schemas.microsoft.com/office/drawing/2014/main" id="{906ED9AE-6AAC-249A-F29D-A6E68CC00593}"/>
              </a:ext>
            </a:extLst>
          </p:cNvPr>
          <p:cNvSpPr>
            <a:spLocks noGrp="1"/>
          </p:cNvSpPr>
          <p:nvPr>
            <p:ph idx="1"/>
          </p:nvPr>
        </p:nvSpPr>
        <p:spPr>
          <a:xfrm>
            <a:off x="1141413" y="2215362"/>
            <a:ext cx="4954588" cy="3829838"/>
          </a:xfrm>
        </p:spPr>
        <p:txBody>
          <a:bodyPr>
            <a:normAutofit fontScale="77500" lnSpcReduction="20000"/>
          </a:bodyPr>
          <a:lstStyle/>
          <a:p>
            <a:r>
              <a:rPr lang="en-US" dirty="0"/>
              <a:t>Below highlights the structure of section 4 of the questionnaire:</a:t>
            </a:r>
          </a:p>
          <a:p>
            <a:pPr lvl="1"/>
            <a:r>
              <a:rPr lang="en-GB" i="1" dirty="0"/>
              <a:t>Section 4:</a:t>
            </a:r>
            <a:r>
              <a:rPr lang="en-GB" dirty="0"/>
              <a:t> The list below suggests ways that peer reviewing might contribute to your learning over and above what you might get from teacher feedback. Examine the list and identify the extent to which these contributed to your learning </a:t>
            </a:r>
            <a:r>
              <a:rPr lang="en-GB" i="1" dirty="0"/>
              <a:t>over what a teacher might provide</a:t>
            </a:r>
            <a:r>
              <a:rPr lang="en-GB" dirty="0"/>
              <a:t>.  </a:t>
            </a:r>
          </a:p>
          <a:p>
            <a:pPr lvl="1"/>
            <a:r>
              <a:rPr lang="en-GB" dirty="0"/>
              <a:t>The response scale; contributed nothing over what a teacher could provide/contributed little over what a teacher could provide/contributed moderately over what a teacher could provide/contributed a great deal over what a teacher could provide was used. </a:t>
            </a:r>
          </a:p>
        </p:txBody>
      </p:sp>
      <p:sp>
        <p:nvSpPr>
          <p:cNvPr id="3" name="Content Placeholder 7">
            <a:extLst>
              <a:ext uri="{FF2B5EF4-FFF2-40B4-BE49-F238E27FC236}">
                <a16:creationId xmlns:a16="http://schemas.microsoft.com/office/drawing/2014/main" id="{A2DE1ADE-E2D6-1C0F-853F-B894123B362C}"/>
              </a:ext>
            </a:extLst>
          </p:cNvPr>
          <p:cNvSpPr txBox="1">
            <a:spLocks/>
          </p:cNvSpPr>
          <p:nvPr/>
        </p:nvSpPr>
        <p:spPr>
          <a:xfrm>
            <a:off x="6094412" y="2215362"/>
            <a:ext cx="4954588" cy="382983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sz="1400" dirty="0"/>
              <a:t>A </a:t>
            </a:r>
            <a:r>
              <a:rPr lang="en-GB" sz="1400" dirty="0" err="1"/>
              <a:t>continuación</a:t>
            </a:r>
            <a:r>
              <a:rPr lang="en-GB" sz="1400" dirty="0"/>
              <a:t> se </a:t>
            </a:r>
            <a:r>
              <a:rPr lang="en-GB" sz="1400" dirty="0" err="1"/>
              <a:t>destaca</a:t>
            </a:r>
            <a:r>
              <a:rPr lang="en-GB" sz="1400" dirty="0"/>
              <a:t> la </a:t>
            </a:r>
            <a:r>
              <a:rPr lang="en-GB" sz="1400" dirty="0" err="1"/>
              <a:t>estructura</a:t>
            </a:r>
            <a:r>
              <a:rPr lang="en-GB" sz="1400" dirty="0"/>
              <a:t> del </a:t>
            </a:r>
            <a:r>
              <a:rPr lang="en-GB" sz="1400" dirty="0" err="1"/>
              <a:t>apartado</a:t>
            </a:r>
            <a:r>
              <a:rPr lang="en-GB" sz="1400" dirty="0"/>
              <a:t> 4 del </a:t>
            </a:r>
            <a:r>
              <a:rPr lang="en-GB" sz="1400" dirty="0" err="1"/>
              <a:t>cuestionario</a:t>
            </a:r>
            <a:r>
              <a:rPr lang="en-GB" sz="1400" dirty="0"/>
              <a:t>:</a:t>
            </a:r>
          </a:p>
          <a:p>
            <a:pPr lvl="1"/>
            <a:r>
              <a:rPr lang="en-GB" sz="1400" dirty="0" err="1"/>
              <a:t>Sección</a:t>
            </a:r>
            <a:r>
              <a:rPr lang="en-GB" sz="1400" dirty="0"/>
              <a:t> 4: La </a:t>
            </a:r>
            <a:r>
              <a:rPr lang="en-GB" sz="1400" dirty="0" err="1"/>
              <a:t>lista</a:t>
            </a:r>
            <a:r>
              <a:rPr lang="en-GB" sz="1400" dirty="0"/>
              <a:t> a </a:t>
            </a:r>
            <a:r>
              <a:rPr lang="en-GB" sz="1400" dirty="0" err="1"/>
              <a:t>continuación</a:t>
            </a:r>
            <a:r>
              <a:rPr lang="en-GB" sz="1400" dirty="0"/>
              <a:t> </a:t>
            </a:r>
            <a:r>
              <a:rPr lang="en-GB" sz="1400" dirty="0" err="1"/>
              <a:t>sugiere</a:t>
            </a:r>
            <a:r>
              <a:rPr lang="en-GB" sz="1400" dirty="0"/>
              <a:t> </a:t>
            </a:r>
            <a:r>
              <a:rPr lang="en-GB" sz="1400" dirty="0" err="1"/>
              <a:t>formas</a:t>
            </a:r>
            <a:r>
              <a:rPr lang="en-GB" sz="1400" dirty="0"/>
              <a:t> </a:t>
            </a:r>
            <a:r>
              <a:rPr lang="en-GB" sz="1400" dirty="0" err="1"/>
              <a:t>en</a:t>
            </a:r>
            <a:r>
              <a:rPr lang="en-GB" sz="1400" dirty="0"/>
              <a:t> que la </a:t>
            </a:r>
            <a:r>
              <a:rPr lang="en-GB" sz="1400" dirty="0" err="1"/>
              <a:t>revisión</a:t>
            </a:r>
            <a:r>
              <a:rPr lang="en-GB" sz="1400" dirty="0"/>
              <a:t> </a:t>
            </a:r>
            <a:r>
              <a:rPr lang="en-GB" sz="1400" dirty="0" err="1"/>
              <a:t>por</a:t>
            </a:r>
            <a:r>
              <a:rPr lang="en-GB" sz="1400" dirty="0"/>
              <a:t> pares </a:t>
            </a:r>
            <a:r>
              <a:rPr lang="en-GB" sz="1400" dirty="0" err="1"/>
              <a:t>podría</a:t>
            </a:r>
            <a:r>
              <a:rPr lang="en-GB" sz="1400" dirty="0"/>
              <a:t> </a:t>
            </a:r>
            <a:r>
              <a:rPr lang="en-GB" sz="1400" dirty="0" err="1"/>
              <a:t>contribuir</a:t>
            </a:r>
            <a:r>
              <a:rPr lang="en-GB" sz="1400" dirty="0"/>
              <a:t> a </a:t>
            </a:r>
            <a:r>
              <a:rPr lang="en-GB" sz="1400" dirty="0" err="1"/>
              <a:t>su</a:t>
            </a:r>
            <a:r>
              <a:rPr lang="en-GB" sz="1400" dirty="0"/>
              <a:t> </a:t>
            </a:r>
            <a:r>
              <a:rPr lang="en-GB" sz="1400" dirty="0" err="1"/>
              <a:t>aprendizaje</a:t>
            </a:r>
            <a:r>
              <a:rPr lang="en-GB" sz="1400" dirty="0"/>
              <a:t> </a:t>
            </a:r>
            <a:r>
              <a:rPr lang="en-GB" sz="1400" dirty="0" err="1"/>
              <a:t>más</a:t>
            </a:r>
            <a:r>
              <a:rPr lang="en-GB" sz="1400" dirty="0"/>
              <a:t> </a:t>
            </a:r>
            <a:r>
              <a:rPr lang="en-GB" sz="1400" dirty="0" err="1"/>
              <a:t>allá</a:t>
            </a:r>
            <a:r>
              <a:rPr lang="en-GB" sz="1400" dirty="0"/>
              <a:t> de lo que </a:t>
            </a:r>
            <a:r>
              <a:rPr lang="en-GB" sz="1400" dirty="0" err="1"/>
              <a:t>podría</a:t>
            </a:r>
            <a:r>
              <a:rPr lang="en-GB" sz="1400" dirty="0"/>
              <a:t> </a:t>
            </a:r>
            <a:r>
              <a:rPr lang="en-GB" sz="1400" dirty="0" err="1"/>
              <a:t>obtener</a:t>
            </a:r>
            <a:r>
              <a:rPr lang="en-GB" sz="1400" dirty="0"/>
              <a:t> de </a:t>
            </a:r>
            <a:r>
              <a:rPr lang="en-GB" sz="1400" dirty="0" err="1"/>
              <a:t>los</a:t>
            </a:r>
            <a:r>
              <a:rPr lang="en-GB" sz="1400" dirty="0"/>
              <a:t> </a:t>
            </a:r>
            <a:r>
              <a:rPr lang="en-GB" sz="1400" dirty="0" err="1"/>
              <a:t>comentarios</a:t>
            </a:r>
            <a:r>
              <a:rPr lang="en-GB" sz="1400" dirty="0"/>
              <a:t> de </a:t>
            </a:r>
            <a:r>
              <a:rPr lang="en-GB" sz="1400" dirty="0" err="1"/>
              <a:t>los</a:t>
            </a:r>
            <a:r>
              <a:rPr lang="en-GB" sz="1400" dirty="0"/>
              <a:t> maestros. Examine la </a:t>
            </a:r>
            <a:r>
              <a:rPr lang="en-GB" sz="1400" dirty="0" err="1"/>
              <a:t>lista</a:t>
            </a:r>
            <a:r>
              <a:rPr lang="en-GB" sz="1400" dirty="0"/>
              <a:t> e </a:t>
            </a:r>
            <a:r>
              <a:rPr lang="en-GB" sz="1400" dirty="0" err="1"/>
              <a:t>identifique</a:t>
            </a:r>
            <a:r>
              <a:rPr lang="en-GB" sz="1400" dirty="0"/>
              <a:t> hasta </a:t>
            </a:r>
            <a:r>
              <a:rPr lang="en-GB" sz="1400" dirty="0" err="1"/>
              <a:t>qué</a:t>
            </a:r>
            <a:r>
              <a:rPr lang="en-GB" sz="1400" dirty="0"/>
              <a:t> punto </a:t>
            </a:r>
            <a:r>
              <a:rPr lang="en-GB" sz="1400" dirty="0" err="1"/>
              <a:t>estos</a:t>
            </a:r>
            <a:r>
              <a:rPr lang="en-GB" sz="1400" dirty="0"/>
              <a:t> </a:t>
            </a:r>
            <a:r>
              <a:rPr lang="en-GB" sz="1400" dirty="0" err="1"/>
              <a:t>contribuyeron</a:t>
            </a:r>
            <a:r>
              <a:rPr lang="en-GB" sz="1400" dirty="0"/>
              <a:t> a </a:t>
            </a:r>
            <a:r>
              <a:rPr lang="en-GB" sz="1400" dirty="0" err="1"/>
              <a:t>su</a:t>
            </a:r>
            <a:r>
              <a:rPr lang="en-GB" sz="1400" dirty="0"/>
              <a:t> </a:t>
            </a:r>
            <a:r>
              <a:rPr lang="en-GB" sz="1400" dirty="0" err="1"/>
              <a:t>aprendizaje</a:t>
            </a:r>
            <a:r>
              <a:rPr lang="en-GB" sz="1400" dirty="0"/>
              <a:t> </a:t>
            </a:r>
            <a:r>
              <a:rPr lang="en-GB" sz="1400" dirty="0" err="1"/>
              <a:t>sobre</a:t>
            </a:r>
            <a:r>
              <a:rPr lang="en-GB" sz="1400" dirty="0"/>
              <a:t> lo que un maestro </a:t>
            </a:r>
            <a:r>
              <a:rPr lang="en-GB" sz="1400" dirty="0" err="1"/>
              <a:t>podría</a:t>
            </a:r>
            <a:r>
              <a:rPr lang="en-GB" sz="1400" dirty="0"/>
              <a:t> </a:t>
            </a:r>
            <a:r>
              <a:rPr lang="en-GB" sz="1400" dirty="0" err="1"/>
              <a:t>proporcionar</a:t>
            </a:r>
            <a:r>
              <a:rPr lang="en-GB" sz="1400" dirty="0"/>
              <a:t>.</a:t>
            </a:r>
          </a:p>
          <a:p>
            <a:pPr lvl="1"/>
            <a:r>
              <a:rPr lang="en-GB" sz="1400" dirty="0"/>
              <a:t>La </a:t>
            </a:r>
            <a:r>
              <a:rPr lang="en-GB" sz="1400" dirty="0" err="1"/>
              <a:t>escala</a:t>
            </a:r>
            <a:r>
              <a:rPr lang="en-GB" sz="1400" dirty="0"/>
              <a:t> de </a:t>
            </a:r>
            <a:r>
              <a:rPr lang="en-GB" sz="1400" dirty="0" err="1"/>
              <a:t>respuesta</a:t>
            </a:r>
            <a:r>
              <a:rPr lang="en-GB" sz="1400" dirty="0"/>
              <a:t>; no </a:t>
            </a:r>
            <a:r>
              <a:rPr lang="en-GB" sz="1400" dirty="0" err="1"/>
              <a:t>aportó</a:t>
            </a:r>
            <a:r>
              <a:rPr lang="en-GB" sz="1400" dirty="0"/>
              <a:t> nada </a:t>
            </a:r>
            <a:r>
              <a:rPr lang="en-GB" sz="1400" dirty="0" err="1"/>
              <a:t>sobre</a:t>
            </a:r>
            <a:r>
              <a:rPr lang="en-GB" sz="1400" dirty="0"/>
              <a:t> lo que un maestro </a:t>
            </a:r>
            <a:r>
              <a:rPr lang="en-GB" sz="1400" dirty="0" err="1"/>
              <a:t>podría</a:t>
            </a:r>
            <a:r>
              <a:rPr lang="en-GB" sz="1400" dirty="0"/>
              <a:t> </a:t>
            </a:r>
            <a:r>
              <a:rPr lang="en-GB" sz="1400" dirty="0" err="1"/>
              <a:t>brindar</a:t>
            </a:r>
            <a:r>
              <a:rPr lang="en-GB" sz="1400" dirty="0"/>
              <a:t>/</a:t>
            </a:r>
            <a:r>
              <a:rPr lang="en-GB" sz="1400" dirty="0" err="1"/>
              <a:t>contribuyó</a:t>
            </a:r>
            <a:r>
              <a:rPr lang="en-GB" sz="1400" dirty="0"/>
              <a:t> poco </a:t>
            </a:r>
            <a:r>
              <a:rPr lang="en-GB" sz="1400" dirty="0" err="1"/>
              <a:t>sobre</a:t>
            </a:r>
            <a:r>
              <a:rPr lang="en-GB" sz="1400" dirty="0"/>
              <a:t> lo que un </a:t>
            </a:r>
            <a:r>
              <a:rPr lang="en-GB" sz="1400" dirty="0" err="1"/>
              <a:t>docente</a:t>
            </a:r>
            <a:r>
              <a:rPr lang="en-GB" sz="1400" dirty="0"/>
              <a:t> </a:t>
            </a:r>
            <a:r>
              <a:rPr lang="en-GB" sz="1400" dirty="0" err="1"/>
              <a:t>pudo</a:t>
            </a:r>
            <a:r>
              <a:rPr lang="en-GB" sz="1400" dirty="0"/>
              <a:t> </a:t>
            </a:r>
            <a:r>
              <a:rPr lang="en-GB" sz="1400" dirty="0" err="1"/>
              <a:t>brindar</a:t>
            </a:r>
            <a:r>
              <a:rPr lang="en-GB" sz="1400" dirty="0"/>
              <a:t>/</a:t>
            </a:r>
            <a:r>
              <a:rPr lang="en-GB" sz="1400" dirty="0" err="1"/>
              <a:t>contribuyó</a:t>
            </a:r>
            <a:r>
              <a:rPr lang="en-GB" sz="1400" dirty="0"/>
              <a:t> </a:t>
            </a:r>
            <a:r>
              <a:rPr lang="en-GB" sz="1400" dirty="0" err="1"/>
              <a:t>moderadamente</a:t>
            </a:r>
            <a:r>
              <a:rPr lang="en-GB" sz="1400" dirty="0"/>
              <a:t> </a:t>
            </a:r>
            <a:r>
              <a:rPr lang="en-GB" sz="1400" dirty="0" err="1"/>
              <a:t>sobre</a:t>
            </a:r>
            <a:r>
              <a:rPr lang="en-GB" sz="1400" dirty="0"/>
              <a:t> lo que un </a:t>
            </a:r>
            <a:r>
              <a:rPr lang="en-GB" sz="1400" dirty="0" err="1"/>
              <a:t>docente</a:t>
            </a:r>
            <a:r>
              <a:rPr lang="en-GB" sz="1400" dirty="0"/>
              <a:t> </a:t>
            </a:r>
            <a:r>
              <a:rPr lang="en-GB" sz="1400" dirty="0" err="1"/>
              <a:t>pudo</a:t>
            </a:r>
            <a:r>
              <a:rPr lang="en-GB" sz="1400" dirty="0"/>
              <a:t> </a:t>
            </a:r>
            <a:r>
              <a:rPr lang="en-GB" sz="1400" dirty="0" err="1"/>
              <a:t>brindar</a:t>
            </a:r>
            <a:r>
              <a:rPr lang="en-GB" sz="1400" dirty="0"/>
              <a:t>/</a:t>
            </a:r>
            <a:r>
              <a:rPr lang="en-GB" sz="1400" dirty="0" err="1"/>
              <a:t>contribuyó</a:t>
            </a:r>
            <a:r>
              <a:rPr lang="en-GB" sz="1400" dirty="0"/>
              <a:t> </a:t>
            </a:r>
            <a:r>
              <a:rPr lang="en-GB" sz="1400" dirty="0" err="1"/>
              <a:t>mucho</a:t>
            </a:r>
            <a:r>
              <a:rPr lang="en-GB" sz="1400" dirty="0"/>
              <a:t> </a:t>
            </a:r>
            <a:r>
              <a:rPr lang="en-GB" sz="1400" dirty="0" err="1"/>
              <a:t>sobre</a:t>
            </a:r>
            <a:r>
              <a:rPr lang="en-GB" sz="1400" dirty="0"/>
              <a:t> lo que un </a:t>
            </a:r>
            <a:r>
              <a:rPr lang="en-GB" sz="1400" dirty="0" err="1"/>
              <a:t>docente</a:t>
            </a:r>
            <a:r>
              <a:rPr lang="en-GB" sz="1400" dirty="0"/>
              <a:t> </a:t>
            </a:r>
            <a:r>
              <a:rPr lang="en-GB" sz="1400" dirty="0" err="1"/>
              <a:t>pudo</a:t>
            </a:r>
            <a:r>
              <a:rPr lang="en-GB" sz="1400" dirty="0"/>
              <a:t> </a:t>
            </a:r>
            <a:r>
              <a:rPr lang="en-GB" sz="1400" dirty="0" err="1"/>
              <a:t>brindar</a:t>
            </a:r>
            <a:r>
              <a:rPr lang="en-GB" sz="1400" dirty="0"/>
              <a:t>.</a:t>
            </a:r>
          </a:p>
        </p:txBody>
      </p:sp>
    </p:spTree>
    <p:extLst>
      <p:ext uri="{BB962C8B-B14F-4D97-AF65-F5344CB8AC3E}">
        <p14:creationId xmlns:p14="http://schemas.microsoft.com/office/powerpoint/2010/main" val="2489893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6E55-3638-0729-0197-38540D259C75}"/>
              </a:ext>
            </a:extLst>
          </p:cNvPr>
          <p:cNvSpPr>
            <a:spLocks noGrp="1"/>
          </p:cNvSpPr>
          <p:nvPr>
            <p:ph type="title"/>
          </p:nvPr>
        </p:nvSpPr>
        <p:spPr/>
        <p:txBody>
          <a:bodyPr/>
          <a:lstStyle/>
          <a:p>
            <a:r>
              <a:rPr lang="en-US" dirty="0"/>
              <a:t>The questionnaire/El </a:t>
            </a:r>
            <a:r>
              <a:rPr lang="en-US" dirty="0" err="1"/>
              <a:t>cuestionario</a:t>
            </a:r>
            <a:endParaRPr lang="en-US" dirty="0"/>
          </a:p>
        </p:txBody>
      </p:sp>
      <p:sp>
        <p:nvSpPr>
          <p:cNvPr id="8" name="Content Placeholder 7">
            <a:extLst>
              <a:ext uri="{FF2B5EF4-FFF2-40B4-BE49-F238E27FC236}">
                <a16:creationId xmlns:a16="http://schemas.microsoft.com/office/drawing/2014/main" id="{906ED9AE-6AAC-249A-F29D-A6E68CC00593}"/>
              </a:ext>
            </a:extLst>
          </p:cNvPr>
          <p:cNvSpPr>
            <a:spLocks noGrp="1"/>
          </p:cNvSpPr>
          <p:nvPr>
            <p:ph idx="1"/>
          </p:nvPr>
        </p:nvSpPr>
        <p:spPr>
          <a:xfrm>
            <a:off x="1141413" y="2215362"/>
            <a:ext cx="4954588" cy="3829838"/>
          </a:xfrm>
        </p:spPr>
        <p:txBody>
          <a:bodyPr>
            <a:normAutofit/>
          </a:bodyPr>
          <a:lstStyle/>
          <a:p>
            <a:r>
              <a:rPr lang="en-US" dirty="0"/>
              <a:t>Below highlights the structure of section 5of the questionnaire:</a:t>
            </a:r>
          </a:p>
          <a:p>
            <a:pPr lvl="1"/>
            <a:r>
              <a:rPr lang="en-GB" i="1" dirty="0"/>
              <a:t>Section 5:</a:t>
            </a:r>
            <a:r>
              <a:rPr lang="en-GB" dirty="0"/>
              <a:t> Which of the following concerns do you have about peer review?</a:t>
            </a:r>
          </a:p>
          <a:p>
            <a:pPr lvl="1"/>
            <a:r>
              <a:rPr lang="en-GB" dirty="0"/>
              <a:t>Responses ranked as not concerned/moderately concerned/very concerned was used for responding. </a:t>
            </a:r>
            <a:endParaRPr lang="en-US" dirty="0"/>
          </a:p>
        </p:txBody>
      </p:sp>
      <p:sp>
        <p:nvSpPr>
          <p:cNvPr id="3" name="Content Placeholder 7">
            <a:extLst>
              <a:ext uri="{FF2B5EF4-FFF2-40B4-BE49-F238E27FC236}">
                <a16:creationId xmlns:a16="http://schemas.microsoft.com/office/drawing/2014/main" id="{574CDF7F-2254-57E6-3917-9C2782531E15}"/>
              </a:ext>
            </a:extLst>
          </p:cNvPr>
          <p:cNvSpPr txBox="1">
            <a:spLocks/>
          </p:cNvSpPr>
          <p:nvPr/>
        </p:nvSpPr>
        <p:spPr>
          <a:xfrm>
            <a:off x="6092823" y="2215362"/>
            <a:ext cx="4954588" cy="38298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A </a:t>
            </a:r>
            <a:r>
              <a:rPr lang="en-US" dirty="0" err="1"/>
              <a:t>continuación</a:t>
            </a:r>
            <a:r>
              <a:rPr lang="en-US" dirty="0"/>
              <a:t> se </a:t>
            </a:r>
            <a:r>
              <a:rPr lang="en-US" dirty="0" err="1"/>
              <a:t>destaca</a:t>
            </a:r>
            <a:r>
              <a:rPr lang="en-US" dirty="0"/>
              <a:t> la </a:t>
            </a:r>
            <a:r>
              <a:rPr lang="en-US" dirty="0" err="1"/>
              <a:t>estructura</a:t>
            </a:r>
            <a:r>
              <a:rPr lang="en-US" dirty="0"/>
              <a:t> de la </a:t>
            </a:r>
            <a:r>
              <a:rPr lang="en-US" dirty="0" err="1"/>
              <a:t>sección</a:t>
            </a:r>
            <a:r>
              <a:rPr lang="en-US" dirty="0"/>
              <a:t> 5 del </a:t>
            </a:r>
            <a:r>
              <a:rPr lang="en-US" dirty="0" err="1"/>
              <a:t>cuestionario</a:t>
            </a:r>
            <a:r>
              <a:rPr lang="en-US" dirty="0"/>
              <a:t>:</a:t>
            </a:r>
          </a:p>
          <a:p>
            <a:pPr lvl="1"/>
            <a:r>
              <a:rPr lang="en-US" dirty="0" err="1"/>
              <a:t>Sección</a:t>
            </a:r>
            <a:r>
              <a:rPr lang="en-US" dirty="0"/>
              <a:t> 5: ¿</a:t>
            </a:r>
            <a:r>
              <a:rPr lang="en-US" dirty="0" err="1"/>
              <a:t>Cuál</a:t>
            </a:r>
            <a:r>
              <a:rPr lang="en-US" dirty="0"/>
              <a:t> de las </a:t>
            </a:r>
            <a:r>
              <a:rPr lang="en-US" dirty="0" err="1"/>
              <a:t>siguientes</a:t>
            </a:r>
            <a:r>
              <a:rPr lang="en-US" dirty="0"/>
              <a:t> </a:t>
            </a:r>
            <a:r>
              <a:rPr lang="en-US" dirty="0" err="1"/>
              <a:t>preocupaciones</a:t>
            </a:r>
            <a:r>
              <a:rPr lang="en-US" dirty="0"/>
              <a:t> </a:t>
            </a:r>
            <a:r>
              <a:rPr lang="en-US" dirty="0" err="1"/>
              <a:t>tiene</a:t>
            </a:r>
            <a:r>
              <a:rPr lang="en-US" dirty="0"/>
              <a:t> </a:t>
            </a:r>
            <a:r>
              <a:rPr lang="en-US" dirty="0" err="1"/>
              <a:t>sobre</a:t>
            </a:r>
            <a:r>
              <a:rPr lang="en-US" dirty="0"/>
              <a:t> la </a:t>
            </a:r>
            <a:r>
              <a:rPr lang="en-US" dirty="0" err="1"/>
              <a:t>revisión</a:t>
            </a:r>
            <a:r>
              <a:rPr lang="en-US" dirty="0"/>
              <a:t> </a:t>
            </a:r>
            <a:r>
              <a:rPr lang="en-US" dirty="0" err="1"/>
              <a:t>por</a:t>
            </a:r>
            <a:r>
              <a:rPr lang="en-US" dirty="0"/>
              <a:t> pares?</a:t>
            </a:r>
          </a:p>
          <a:p>
            <a:pPr lvl="1"/>
            <a:r>
              <a:rPr lang="en-US" dirty="0"/>
              <a:t>Las </a:t>
            </a:r>
            <a:r>
              <a:rPr lang="en-US" dirty="0" err="1"/>
              <a:t>respuestas</a:t>
            </a:r>
            <a:r>
              <a:rPr lang="en-US" dirty="0"/>
              <a:t> </a:t>
            </a:r>
            <a:r>
              <a:rPr lang="en-US" dirty="0" err="1"/>
              <a:t>clasificadas</a:t>
            </a:r>
            <a:r>
              <a:rPr lang="en-US" dirty="0"/>
              <a:t> </a:t>
            </a:r>
            <a:r>
              <a:rPr lang="en-US" dirty="0" err="1"/>
              <a:t>como</a:t>
            </a:r>
            <a:r>
              <a:rPr lang="en-US" dirty="0"/>
              <a:t> no </a:t>
            </a:r>
            <a:r>
              <a:rPr lang="en-US" dirty="0" err="1"/>
              <a:t>preocupado</a:t>
            </a:r>
            <a:r>
              <a:rPr lang="en-US" dirty="0"/>
              <a:t>/</a:t>
            </a:r>
            <a:r>
              <a:rPr lang="en-US" dirty="0" err="1"/>
              <a:t>moderadamente</a:t>
            </a:r>
            <a:r>
              <a:rPr lang="en-US" dirty="0"/>
              <a:t> </a:t>
            </a:r>
            <a:r>
              <a:rPr lang="en-US" dirty="0" err="1"/>
              <a:t>preocupado</a:t>
            </a:r>
            <a:r>
              <a:rPr lang="en-US" dirty="0"/>
              <a:t>/</a:t>
            </a:r>
            <a:r>
              <a:rPr lang="en-US" dirty="0" err="1"/>
              <a:t>muy</a:t>
            </a:r>
            <a:r>
              <a:rPr lang="en-US" dirty="0"/>
              <a:t> </a:t>
            </a:r>
            <a:r>
              <a:rPr lang="en-US" dirty="0" err="1"/>
              <a:t>preocupado</a:t>
            </a:r>
            <a:r>
              <a:rPr lang="en-US" dirty="0"/>
              <a:t> se </a:t>
            </a:r>
            <a:r>
              <a:rPr lang="en-US" dirty="0" err="1"/>
              <a:t>utilizaron</a:t>
            </a:r>
            <a:r>
              <a:rPr lang="en-US" dirty="0"/>
              <a:t> para responder.</a:t>
            </a:r>
          </a:p>
        </p:txBody>
      </p:sp>
    </p:spTree>
    <p:extLst>
      <p:ext uri="{BB962C8B-B14F-4D97-AF65-F5344CB8AC3E}">
        <p14:creationId xmlns:p14="http://schemas.microsoft.com/office/powerpoint/2010/main" val="3968235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76E55-3638-0729-0197-38540D259C75}"/>
              </a:ext>
            </a:extLst>
          </p:cNvPr>
          <p:cNvSpPr>
            <a:spLocks noGrp="1"/>
          </p:cNvSpPr>
          <p:nvPr>
            <p:ph type="title"/>
          </p:nvPr>
        </p:nvSpPr>
        <p:spPr/>
        <p:txBody>
          <a:bodyPr/>
          <a:lstStyle/>
          <a:p>
            <a:r>
              <a:rPr lang="en-US" dirty="0"/>
              <a:t>Results/</a:t>
            </a:r>
            <a:r>
              <a:rPr lang="en-US" dirty="0" err="1"/>
              <a:t>Resultados</a:t>
            </a:r>
            <a:endParaRPr lang="en-US" dirty="0"/>
          </a:p>
        </p:txBody>
      </p:sp>
      <p:sp>
        <p:nvSpPr>
          <p:cNvPr id="3" name="Content Placeholder 2">
            <a:extLst>
              <a:ext uri="{FF2B5EF4-FFF2-40B4-BE49-F238E27FC236}">
                <a16:creationId xmlns:a16="http://schemas.microsoft.com/office/drawing/2014/main" id="{49BAE94C-A2D3-436A-AEA6-9FC6D09D8D3D}"/>
              </a:ext>
            </a:extLst>
          </p:cNvPr>
          <p:cNvSpPr>
            <a:spLocks noGrp="1"/>
          </p:cNvSpPr>
          <p:nvPr>
            <p:ph idx="1"/>
          </p:nvPr>
        </p:nvSpPr>
        <p:spPr>
          <a:xfrm>
            <a:off x="1141413" y="2249487"/>
            <a:ext cx="4954588" cy="3541714"/>
          </a:xfrm>
        </p:spPr>
        <p:txBody>
          <a:bodyPr>
            <a:normAutofit fontScale="77500" lnSpcReduction="20000"/>
          </a:bodyPr>
          <a:lstStyle/>
          <a:p>
            <a:r>
              <a:rPr lang="en-GB" dirty="0"/>
              <a:t>The Likert scale responses used for the first four sections in the questionnaire relating to perceived student learning and what peer review might offer over and above what teacher feedback offers were converted to a numeric scale; contributed nothing (1) - contributed a great deal (4). </a:t>
            </a:r>
          </a:p>
          <a:p>
            <a:r>
              <a:rPr lang="en-GB" dirty="0"/>
              <a:t>These scores were then used to compute a mean value for each question. Detailed findings can be found in Table 2 of our paper.</a:t>
            </a:r>
            <a:endParaRPr lang="en-US" dirty="0"/>
          </a:p>
        </p:txBody>
      </p:sp>
      <p:sp>
        <p:nvSpPr>
          <p:cNvPr id="4" name="Content Placeholder 2">
            <a:extLst>
              <a:ext uri="{FF2B5EF4-FFF2-40B4-BE49-F238E27FC236}">
                <a16:creationId xmlns:a16="http://schemas.microsoft.com/office/drawing/2014/main" id="{680852D2-A34F-3D11-1FB5-42587480387E}"/>
              </a:ext>
            </a:extLst>
          </p:cNvPr>
          <p:cNvSpPr txBox="1">
            <a:spLocks/>
          </p:cNvSpPr>
          <p:nvPr/>
        </p:nvSpPr>
        <p:spPr>
          <a:xfrm>
            <a:off x="6094412" y="2249487"/>
            <a:ext cx="4954588" cy="354171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a:t>Las </a:t>
            </a:r>
            <a:r>
              <a:rPr lang="en-GB" dirty="0" err="1"/>
              <a:t>respuestas</a:t>
            </a:r>
            <a:r>
              <a:rPr lang="en-GB" dirty="0"/>
              <a:t> de la </a:t>
            </a:r>
            <a:r>
              <a:rPr lang="en-GB" dirty="0" err="1"/>
              <a:t>escala</a:t>
            </a:r>
            <a:r>
              <a:rPr lang="en-GB" dirty="0"/>
              <a:t> de Likert </a:t>
            </a:r>
            <a:r>
              <a:rPr lang="en-GB" dirty="0" err="1"/>
              <a:t>utilizadas</a:t>
            </a:r>
            <a:r>
              <a:rPr lang="en-GB" dirty="0"/>
              <a:t> para las </a:t>
            </a:r>
            <a:r>
              <a:rPr lang="en-GB" dirty="0" err="1"/>
              <a:t>primeras</a:t>
            </a:r>
            <a:r>
              <a:rPr lang="en-GB" dirty="0"/>
              <a:t> cuatro </a:t>
            </a:r>
            <a:r>
              <a:rPr lang="en-GB" dirty="0" err="1"/>
              <a:t>secciones</a:t>
            </a:r>
            <a:r>
              <a:rPr lang="en-GB" dirty="0"/>
              <a:t> del </a:t>
            </a:r>
            <a:r>
              <a:rPr lang="en-GB" dirty="0" err="1"/>
              <a:t>cuestionario</a:t>
            </a:r>
            <a:r>
              <a:rPr lang="en-GB" dirty="0"/>
              <a:t> </a:t>
            </a:r>
            <a:r>
              <a:rPr lang="en-GB" dirty="0" err="1"/>
              <a:t>relacionadas</a:t>
            </a:r>
            <a:r>
              <a:rPr lang="en-GB" dirty="0"/>
              <a:t> con </a:t>
            </a:r>
            <a:r>
              <a:rPr lang="en-GB" dirty="0" err="1"/>
              <a:t>el</a:t>
            </a:r>
            <a:r>
              <a:rPr lang="en-GB" dirty="0"/>
              <a:t> </a:t>
            </a:r>
            <a:r>
              <a:rPr lang="en-GB" dirty="0" err="1"/>
              <a:t>aprendizaje</a:t>
            </a:r>
            <a:r>
              <a:rPr lang="en-GB" dirty="0"/>
              <a:t> </a:t>
            </a:r>
            <a:r>
              <a:rPr lang="en-GB" dirty="0" err="1"/>
              <a:t>estudiantil</a:t>
            </a:r>
            <a:r>
              <a:rPr lang="en-GB" dirty="0"/>
              <a:t> </a:t>
            </a:r>
            <a:r>
              <a:rPr lang="en-GB" dirty="0" err="1"/>
              <a:t>percibido</a:t>
            </a:r>
            <a:r>
              <a:rPr lang="en-GB" dirty="0"/>
              <a:t> y lo que la </a:t>
            </a:r>
            <a:r>
              <a:rPr lang="en-GB" dirty="0" err="1"/>
              <a:t>revisión</a:t>
            </a:r>
            <a:r>
              <a:rPr lang="en-GB" dirty="0"/>
              <a:t> </a:t>
            </a:r>
            <a:r>
              <a:rPr lang="en-GB" dirty="0" err="1"/>
              <a:t>por</a:t>
            </a:r>
            <a:r>
              <a:rPr lang="en-GB" dirty="0"/>
              <a:t> pares </a:t>
            </a:r>
            <a:r>
              <a:rPr lang="en-GB" dirty="0" err="1"/>
              <a:t>podría</a:t>
            </a:r>
            <a:r>
              <a:rPr lang="en-GB" dirty="0"/>
              <a:t> </a:t>
            </a:r>
            <a:r>
              <a:rPr lang="en-GB" dirty="0" err="1"/>
              <a:t>ofrecer</a:t>
            </a:r>
            <a:r>
              <a:rPr lang="en-GB" dirty="0"/>
              <a:t> </a:t>
            </a:r>
            <a:r>
              <a:rPr lang="en-GB" dirty="0" err="1"/>
              <a:t>más</a:t>
            </a:r>
            <a:r>
              <a:rPr lang="en-GB" dirty="0"/>
              <a:t> </a:t>
            </a:r>
            <a:r>
              <a:rPr lang="en-GB" dirty="0" err="1"/>
              <a:t>allá</a:t>
            </a:r>
            <a:r>
              <a:rPr lang="en-GB" dirty="0"/>
              <a:t> de lo que </a:t>
            </a:r>
            <a:r>
              <a:rPr lang="en-GB" dirty="0" err="1"/>
              <a:t>ofrece</a:t>
            </a:r>
            <a:r>
              <a:rPr lang="en-GB" dirty="0"/>
              <a:t> la </a:t>
            </a:r>
            <a:r>
              <a:rPr lang="en-GB" dirty="0" err="1"/>
              <a:t>retroalimentación</a:t>
            </a:r>
            <a:r>
              <a:rPr lang="en-GB" dirty="0"/>
              <a:t> del maestro se </a:t>
            </a:r>
            <a:r>
              <a:rPr lang="en-GB" dirty="0" err="1"/>
              <a:t>convirtieron</a:t>
            </a:r>
            <a:r>
              <a:rPr lang="en-GB" dirty="0"/>
              <a:t> a </a:t>
            </a:r>
            <a:r>
              <a:rPr lang="en-GB" dirty="0" err="1"/>
              <a:t>una</a:t>
            </a:r>
            <a:r>
              <a:rPr lang="en-GB" dirty="0"/>
              <a:t> </a:t>
            </a:r>
            <a:r>
              <a:rPr lang="en-GB" dirty="0" err="1"/>
              <a:t>escala</a:t>
            </a:r>
            <a:r>
              <a:rPr lang="en-GB" dirty="0"/>
              <a:t> </a:t>
            </a:r>
            <a:r>
              <a:rPr lang="en-GB" dirty="0" err="1"/>
              <a:t>numérica</a:t>
            </a:r>
            <a:r>
              <a:rPr lang="en-GB" dirty="0"/>
              <a:t>; no </a:t>
            </a:r>
            <a:r>
              <a:rPr lang="en-GB" dirty="0" err="1"/>
              <a:t>aportó</a:t>
            </a:r>
            <a:r>
              <a:rPr lang="en-GB" dirty="0"/>
              <a:t> nada (1) - </a:t>
            </a:r>
            <a:r>
              <a:rPr lang="en-GB" dirty="0" err="1"/>
              <a:t>aportó</a:t>
            </a:r>
            <a:r>
              <a:rPr lang="en-GB" dirty="0"/>
              <a:t> </a:t>
            </a:r>
            <a:r>
              <a:rPr lang="en-GB" dirty="0" err="1"/>
              <a:t>mucho</a:t>
            </a:r>
            <a:r>
              <a:rPr lang="en-GB" dirty="0"/>
              <a:t> (4).</a:t>
            </a:r>
          </a:p>
          <a:p>
            <a:r>
              <a:rPr lang="en-GB" dirty="0" err="1"/>
              <a:t>Estos</a:t>
            </a:r>
            <a:r>
              <a:rPr lang="en-GB" dirty="0"/>
              <a:t> </a:t>
            </a:r>
            <a:r>
              <a:rPr lang="en-GB" dirty="0" err="1"/>
              <a:t>puntajes</a:t>
            </a:r>
            <a:r>
              <a:rPr lang="en-GB" dirty="0"/>
              <a:t> se </a:t>
            </a:r>
            <a:r>
              <a:rPr lang="en-GB" dirty="0" err="1"/>
              <a:t>usaron</a:t>
            </a:r>
            <a:r>
              <a:rPr lang="en-GB" dirty="0"/>
              <a:t> </a:t>
            </a:r>
            <a:r>
              <a:rPr lang="en-GB" dirty="0" err="1"/>
              <a:t>luego</a:t>
            </a:r>
            <a:r>
              <a:rPr lang="en-GB" dirty="0"/>
              <a:t> para </a:t>
            </a:r>
            <a:r>
              <a:rPr lang="en-GB" dirty="0" err="1"/>
              <a:t>calcular</a:t>
            </a:r>
            <a:r>
              <a:rPr lang="en-GB" dirty="0"/>
              <a:t> un </a:t>
            </a:r>
            <a:r>
              <a:rPr lang="en-GB" dirty="0" err="1"/>
              <a:t>valor</a:t>
            </a:r>
            <a:r>
              <a:rPr lang="en-GB" dirty="0"/>
              <a:t> medio para </a:t>
            </a:r>
            <a:r>
              <a:rPr lang="en-GB" dirty="0" err="1"/>
              <a:t>cada</a:t>
            </a:r>
            <a:r>
              <a:rPr lang="en-GB" dirty="0"/>
              <a:t> </a:t>
            </a:r>
            <a:r>
              <a:rPr lang="en-GB" dirty="0" err="1"/>
              <a:t>pregunta</a:t>
            </a:r>
            <a:r>
              <a:rPr lang="en-GB" dirty="0"/>
              <a:t>. Los </a:t>
            </a:r>
            <a:r>
              <a:rPr lang="en-GB" dirty="0" err="1"/>
              <a:t>resultados</a:t>
            </a:r>
            <a:r>
              <a:rPr lang="en-GB" dirty="0"/>
              <a:t> </a:t>
            </a:r>
            <a:r>
              <a:rPr lang="en-GB" dirty="0" err="1"/>
              <a:t>detallados</a:t>
            </a:r>
            <a:r>
              <a:rPr lang="en-GB" dirty="0"/>
              <a:t> se </a:t>
            </a:r>
            <a:r>
              <a:rPr lang="en-GB" dirty="0" err="1"/>
              <a:t>pueden</a:t>
            </a:r>
            <a:r>
              <a:rPr lang="en-GB" dirty="0"/>
              <a:t> </a:t>
            </a:r>
            <a:r>
              <a:rPr lang="en-GB" dirty="0" err="1"/>
              <a:t>encontrar</a:t>
            </a:r>
            <a:r>
              <a:rPr lang="en-GB" dirty="0"/>
              <a:t> </a:t>
            </a:r>
            <a:r>
              <a:rPr lang="en-GB" dirty="0" err="1"/>
              <a:t>en</a:t>
            </a:r>
            <a:r>
              <a:rPr lang="en-GB" dirty="0"/>
              <a:t> la </a:t>
            </a:r>
            <a:r>
              <a:rPr lang="en-GB" dirty="0" err="1"/>
              <a:t>Tabla</a:t>
            </a:r>
            <a:r>
              <a:rPr lang="en-GB" dirty="0"/>
              <a:t> 2 de </a:t>
            </a:r>
            <a:r>
              <a:rPr lang="en-GB" dirty="0" err="1"/>
              <a:t>nuestro</a:t>
            </a:r>
            <a:r>
              <a:rPr lang="en-GB" dirty="0"/>
              <a:t> </a:t>
            </a:r>
            <a:r>
              <a:rPr lang="en-GB" dirty="0" err="1"/>
              <a:t>documento</a:t>
            </a:r>
            <a:r>
              <a:rPr lang="en-GB" dirty="0"/>
              <a:t>.</a:t>
            </a:r>
            <a:endParaRPr lang="en-US" dirty="0"/>
          </a:p>
        </p:txBody>
      </p:sp>
    </p:spTree>
    <p:extLst>
      <p:ext uri="{BB962C8B-B14F-4D97-AF65-F5344CB8AC3E}">
        <p14:creationId xmlns:p14="http://schemas.microsoft.com/office/powerpoint/2010/main" val="939873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852C-FF3B-5B88-4C7C-EE35FA14853D}"/>
              </a:ext>
            </a:extLst>
          </p:cNvPr>
          <p:cNvSpPr>
            <a:spLocks noGrp="1"/>
          </p:cNvSpPr>
          <p:nvPr>
            <p:ph type="title"/>
          </p:nvPr>
        </p:nvSpPr>
        <p:spPr/>
        <p:txBody>
          <a:bodyPr/>
          <a:lstStyle/>
          <a:p>
            <a:r>
              <a:rPr lang="en-US" dirty="0"/>
              <a:t>Results/</a:t>
            </a:r>
            <a:r>
              <a:rPr lang="en-US" dirty="0" err="1"/>
              <a:t>Resultados</a:t>
            </a:r>
            <a:endParaRPr lang="en-US" dirty="0"/>
          </a:p>
        </p:txBody>
      </p:sp>
      <p:sp>
        <p:nvSpPr>
          <p:cNvPr id="3" name="Content Placeholder 2">
            <a:extLst>
              <a:ext uri="{FF2B5EF4-FFF2-40B4-BE49-F238E27FC236}">
                <a16:creationId xmlns:a16="http://schemas.microsoft.com/office/drawing/2014/main" id="{CB740C7F-D13C-1C21-75A6-769FCDE35E7C}"/>
              </a:ext>
            </a:extLst>
          </p:cNvPr>
          <p:cNvSpPr>
            <a:spLocks noGrp="1"/>
          </p:cNvSpPr>
          <p:nvPr>
            <p:ph idx="1"/>
          </p:nvPr>
        </p:nvSpPr>
        <p:spPr>
          <a:xfrm>
            <a:off x="1141413" y="2249487"/>
            <a:ext cx="4954588" cy="3541714"/>
          </a:xfrm>
        </p:spPr>
        <p:txBody>
          <a:bodyPr>
            <a:normAutofit fontScale="92500"/>
          </a:bodyPr>
          <a:lstStyle/>
          <a:p>
            <a:r>
              <a:rPr lang="en-GB" dirty="0"/>
              <a:t>Due to the small sample sizes (n=11 and n=29), robust quantitative analysis was not conducted.</a:t>
            </a:r>
          </a:p>
          <a:p>
            <a:r>
              <a:rPr lang="en-GB" dirty="0"/>
              <a:t>Initial impressions can be gathered though from this study.</a:t>
            </a:r>
          </a:p>
          <a:p>
            <a:r>
              <a:rPr lang="en-GB" dirty="0"/>
              <a:t>The aim is to continue this study for future cohorts to build a more robust dataset.</a:t>
            </a:r>
            <a:endParaRPr lang="en-US" dirty="0"/>
          </a:p>
        </p:txBody>
      </p:sp>
      <p:sp>
        <p:nvSpPr>
          <p:cNvPr id="4" name="Content Placeholder 2">
            <a:extLst>
              <a:ext uri="{FF2B5EF4-FFF2-40B4-BE49-F238E27FC236}">
                <a16:creationId xmlns:a16="http://schemas.microsoft.com/office/drawing/2014/main" id="{0DC873AB-C090-F465-8027-54C89C046937}"/>
              </a:ext>
            </a:extLst>
          </p:cNvPr>
          <p:cNvSpPr txBox="1">
            <a:spLocks/>
          </p:cNvSpPr>
          <p:nvPr/>
        </p:nvSpPr>
        <p:spPr>
          <a:xfrm>
            <a:off x="6462713" y="2249487"/>
            <a:ext cx="4954588" cy="354171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err="1"/>
              <a:t>Debido</a:t>
            </a:r>
            <a:r>
              <a:rPr lang="en-GB" dirty="0"/>
              <a:t> a </a:t>
            </a:r>
            <a:r>
              <a:rPr lang="en-GB" dirty="0" err="1"/>
              <a:t>los</a:t>
            </a:r>
            <a:r>
              <a:rPr lang="en-GB" dirty="0"/>
              <a:t> </a:t>
            </a:r>
            <a:r>
              <a:rPr lang="en-GB" dirty="0" err="1"/>
              <a:t>tamaños</a:t>
            </a:r>
            <a:r>
              <a:rPr lang="en-GB" dirty="0"/>
              <a:t> de </a:t>
            </a:r>
            <a:r>
              <a:rPr lang="en-GB" dirty="0" err="1"/>
              <a:t>muestra</a:t>
            </a:r>
            <a:r>
              <a:rPr lang="en-GB" dirty="0"/>
              <a:t> </a:t>
            </a:r>
            <a:r>
              <a:rPr lang="en-GB" dirty="0" err="1"/>
              <a:t>pequeños</a:t>
            </a:r>
            <a:r>
              <a:rPr lang="en-GB" dirty="0"/>
              <a:t> (n = 11 y n = 29), no se </a:t>
            </a:r>
            <a:r>
              <a:rPr lang="en-GB" dirty="0" err="1"/>
              <a:t>realizó</a:t>
            </a:r>
            <a:r>
              <a:rPr lang="en-GB" dirty="0"/>
              <a:t> un </a:t>
            </a:r>
            <a:r>
              <a:rPr lang="en-GB" dirty="0" err="1"/>
              <a:t>análisis</a:t>
            </a:r>
            <a:r>
              <a:rPr lang="en-GB" dirty="0"/>
              <a:t> </a:t>
            </a:r>
            <a:r>
              <a:rPr lang="en-GB" dirty="0" err="1"/>
              <a:t>cuantitativo</a:t>
            </a:r>
            <a:r>
              <a:rPr lang="en-GB" dirty="0"/>
              <a:t> </a:t>
            </a:r>
            <a:r>
              <a:rPr lang="en-GB" dirty="0" err="1"/>
              <a:t>sólido</a:t>
            </a:r>
            <a:r>
              <a:rPr lang="en-GB" dirty="0"/>
              <a:t>.</a:t>
            </a:r>
          </a:p>
          <a:p>
            <a:r>
              <a:rPr lang="en-GB" dirty="0"/>
              <a:t>Sin embargo, las </a:t>
            </a:r>
            <a:r>
              <a:rPr lang="en-GB" dirty="0" err="1"/>
              <a:t>impresiones</a:t>
            </a:r>
            <a:r>
              <a:rPr lang="en-GB" dirty="0"/>
              <a:t> </a:t>
            </a:r>
            <a:r>
              <a:rPr lang="en-GB" dirty="0" err="1"/>
              <a:t>iniciales</a:t>
            </a:r>
            <a:r>
              <a:rPr lang="en-GB" dirty="0"/>
              <a:t> se </a:t>
            </a:r>
            <a:r>
              <a:rPr lang="en-GB" dirty="0" err="1"/>
              <a:t>pueden</a:t>
            </a:r>
            <a:r>
              <a:rPr lang="en-GB" dirty="0"/>
              <a:t> </a:t>
            </a:r>
            <a:r>
              <a:rPr lang="en-GB" dirty="0" err="1"/>
              <a:t>recopilar</a:t>
            </a:r>
            <a:r>
              <a:rPr lang="en-GB" dirty="0"/>
              <a:t> a </a:t>
            </a:r>
            <a:r>
              <a:rPr lang="en-GB" dirty="0" err="1"/>
              <a:t>partir</a:t>
            </a:r>
            <a:r>
              <a:rPr lang="en-GB" dirty="0"/>
              <a:t> de </a:t>
            </a:r>
            <a:r>
              <a:rPr lang="en-GB" dirty="0" err="1"/>
              <a:t>este</a:t>
            </a:r>
            <a:r>
              <a:rPr lang="en-GB" dirty="0"/>
              <a:t> </a:t>
            </a:r>
            <a:r>
              <a:rPr lang="en-GB" dirty="0" err="1"/>
              <a:t>estudio</a:t>
            </a:r>
            <a:r>
              <a:rPr lang="en-GB" dirty="0"/>
              <a:t>.</a:t>
            </a:r>
          </a:p>
          <a:p>
            <a:r>
              <a:rPr lang="en-GB" dirty="0"/>
              <a:t>El </a:t>
            </a:r>
            <a:r>
              <a:rPr lang="en-GB" dirty="0" err="1"/>
              <a:t>objetivo</a:t>
            </a:r>
            <a:r>
              <a:rPr lang="en-GB" dirty="0"/>
              <a:t> es </a:t>
            </a:r>
            <a:r>
              <a:rPr lang="en-GB" dirty="0" err="1"/>
              <a:t>continuar</a:t>
            </a:r>
            <a:r>
              <a:rPr lang="en-GB" dirty="0"/>
              <a:t> </a:t>
            </a:r>
            <a:r>
              <a:rPr lang="en-GB" dirty="0" err="1"/>
              <a:t>este</a:t>
            </a:r>
            <a:r>
              <a:rPr lang="en-GB" dirty="0"/>
              <a:t> </a:t>
            </a:r>
            <a:r>
              <a:rPr lang="en-GB" dirty="0" err="1"/>
              <a:t>estudio</a:t>
            </a:r>
            <a:r>
              <a:rPr lang="en-GB" dirty="0"/>
              <a:t> para </a:t>
            </a:r>
            <a:r>
              <a:rPr lang="en-GB" dirty="0" err="1"/>
              <a:t>futuras</a:t>
            </a:r>
            <a:r>
              <a:rPr lang="en-GB" dirty="0"/>
              <a:t> </a:t>
            </a:r>
            <a:r>
              <a:rPr lang="en-GB" dirty="0" err="1"/>
              <a:t>cohortes</a:t>
            </a:r>
            <a:r>
              <a:rPr lang="en-GB" dirty="0"/>
              <a:t> para </a:t>
            </a:r>
            <a:r>
              <a:rPr lang="en-GB" dirty="0" err="1"/>
              <a:t>construir</a:t>
            </a:r>
            <a:r>
              <a:rPr lang="en-GB" dirty="0"/>
              <a:t> un conjunto de </a:t>
            </a:r>
            <a:r>
              <a:rPr lang="en-GB" dirty="0" err="1"/>
              <a:t>datos</a:t>
            </a:r>
            <a:r>
              <a:rPr lang="en-GB" dirty="0"/>
              <a:t> </a:t>
            </a:r>
            <a:r>
              <a:rPr lang="en-GB" dirty="0" err="1"/>
              <a:t>más</a:t>
            </a:r>
            <a:r>
              <a:rPr lang="en-GB" dirty="0"/>
              <a:t> </a:t>
            </a:r>
            <a:r>
              <a:rPr lang="en-GB" dirty="0" err="1"/>
              <a:t>sólido</a:t>
            </a:r>
            <a:r>
              <a:rPr lang="en-GB" dirty="0"/>
              <a:t>.</a:t>
            </a:r>
            <a:endParaRPr lang="en-US" dirty="0"/>
          </a:p>
        </p:txBody>
      </p:sp>
    </p:spTree>
    <p:extLst>
      <p:ext uri="{BB962C8B-B14F-4D97-AF65-F5344CB8AC3E}">
        <p14:creationId xmlns:p14="http://schemas.microsoft.com/office/powerpoint/2010/main" val="2879356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F1E3A-0286-EFD7-7979-11A989E6589F}"/>
              </a:ext>
            </a:extLst>
          </p:cNvPr>
          <p:cNvSpPr>
            <a:spLocks noGrp="1"/>
          </p:cNvSpPr>
          <p:nvPr>
            <p:ph type="title"/>
          </p:nvPr>
        </p:nvSpPr>
        <p:spPr/>
        <p:txBody>
          <a:bodyPr/>
          <a:lstStyle/>
          <a:p>
            <a:r>
              <a:rPr lang="en-US" dirty="0"/>
              <a:t>Results/</a:t>
            </a:r>
            <a:r>
              <a:rPr lang="en-US" dirty="0" err="1"/>
              <a:t>Resultados</a:t>
            </a:r>
            <a:endParaRPr lang="en-US" dirty="0"/>
          </a:p>
        </p:txBody>
      </p:sp>
      <p:sp>
        <p:nvSpPr>
          <p:cNvPr id="3" name="Content Placeholder 2">
            <a:extLst>
              <a:ext uri="{FF2B5EF4-FFF2-40B4-BE49-F238E27FC236}">
                <a16:creationId xmlns:a16="http://schemas.microsoft.com/office/drawing/2014/main" id="{9A4FBC77-5226-9FE1-7A3F-90D48B8EBA5D}"/>
              </a:ext>
            </a:extLst>
          </p:cNvPr>
          <p:cNvSpPr>
            <a:spLocks noGrp="1"/>
          </p:cNvSpPr>
          <p:nvPr>
            <p:ph idx="1"/>
          </p:nvPr>
        </p:nvSpPr>
        <p:spPr>
          <a:xfrm>
            <a:off x="1141413" y="2249486"/>
            <a:ext cx="4954588" cy="3989995"/>
          </a:xfrm>
        </p:spPr>
        <p:txBody>
          <a:bodyPr>
            <a:normAutofit fontScale="70000" lnSpcReduction="20000"/>
          </a:bodyPr>
          <a:lstStyle/>
          <a:p>
            <a:r>
              <a:rPr lang="en-US" dirty="0"/>
              <a:t>The average integer response of 3 (“contributed moderately”) for almost all statements indicates that students felt the exercise contributed to their learning. The low standard deviation indicates there was little variation in responses. </a:t>
            </a:r>
          </a:p>
          <a:p>
            <a:r>
              <a:rPr lang="en-GB" dirty="0"/>
              <a:t>In Section 1, comparing peers work against their own contributed the most on average to students learning in both cohorts (3.36 and 3.55 respectively). </a:t>
            </a:r>
          </a:p>
          <a:p>
            <a:r>
              <a:rPr lang="en-GB" dirty="0"/>
              <a:t>From the results for section 4 it is apparent that students felt, on average, that peer reviewing </a:t>
            </a:r>
            <a:r>
              <a:rPr lang="en-GB" i="1" dirty="0"/>
              <a:t>contributed moderately over what a teacher could provide </a:t>
            </a:r>
            <a:r>
              <a:rPr lang="en-GB" dirty="0"/>
              <a:t>(all mean responses are above 3 for both cohorts). </a:t>
            </a:r>
          </a:p>
          <a:p>
            <a:endParaRPr lang="en-US" dirty="0"/>
          </a:p>
        </p:txBody>
      </p:sp>
      <p:sp>
        <p:nvSpPr>
          <p:cNvPr id="4" name="Content Placeholder 2">
            <a:extLst>
              <a:ext uri="{FF2B5EF4-FFF2-40B4-BE49-F238E27FC236}">
                <a16:creationId xmlns:a16="http://schemas.microsoft.com/office/drawing/2014/main" id="{0CA14F8F-F06C-2647-6759-8BCBBF3132E3}"/>
              </a:ext>
            </a:extLst>
          </p:cNvPr>
          <p:cNvSpPr txBox="1">
            <a:spLocks/>
          </p:cNvSpPr>
          <p:nvPr/>
        </p:nvSpPr>
        <p:spPr>
          <a:xfrm>
            <a:off x="6094412" y="2276472"/>
            <a:ext cx="4954588" cy="398999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La </a:t>
            </a:r>
            <a:r>
              <a:rPr lang="en-US" dirty="0" err="1"/>
              <a:t>respuesta</a:t>
            </a:r>
            <a:r>
              <a:rPr lang="en-US" dirty="0"/>
              <a:t> entera </a:t>
            </a:r>
            <a:r>
              <a:rPr lang="en-US" dirty="0" err="1"/>
              <a:t>promedio</a:t>
            </a:r>
            <a:r>
              <a:rPr lang="en-US" dirty="0"/>
              <a:t> de 3 ("</a:t>
            </a:r>
            <a:r>
              <a:rPr lang="en-US" dirty="0" err="1"/>
              <a:t>contribuyó</a:t>
            </a:r>
            <a:r>
              <a:rPr lang="en-US" dirty="0"/>
              <a:t> </a:t>
            </a:r>
            <a:r>
              <a:rPr lang="en-US" dirty="0" err="1"/>
              <a:t>moderadamente</a:t>
            </a:r>
            <a:r>
              <a:rPr lang="en-US" dirty="0"/>
              <a:t>") para </a:t>
            </a:r>
            <a:r>
              <a:rPr lang="en-US" dirty="0" err="1"/>
              <a:t>casi</a:t>
            </a:r>
            <a:r>
              <a:rPr lang="en-US" dirty="0"/>
              <a:t> </a:t>
            </a:r>
            <a:r>
              <a:rPr lang="en-US" dirty="0" err="1"/>
              <a:t>todas</a:t>
            </a:r>
            <a:r>
              <a:rPr lang="en-US" dirty="0"/>
              <a:t> las </a:t>
            </a:r>
            <a:r>
              <a:rPr lang="en-US" dirty="0" err="1"/>
              <a:t>declaraciones</a:t>
            </a:r>
            <a:r>
              <a:rPr lang="en-US" dirty="0"/>
              <a:t> indica que </a:t>
            </a:r>
            <a:r>
              <a:rPr lang="en-US" dirty="0" err="1"/>
              <a:t>los</a:t>
            </a:r>
            <a:r>
              <a:rPr lang="en-US" dirty="0"/>
              <a:t> </a:t>
            </a:r>
            <a:r>
              <a:rPr lang="en-US" dirty="0" err="1"/>
              <a:t>estudiantes</a:t>
            </a:r>
            <a:r>
              <a:rPr lang="en-US" dirty="0"/>
              <a:t> </a:t>
            </a:r>
            <a:r>
              <a:rPr lang="en-US" dirty="0" err="1"/>
              <a:t>sintieron</a:t>
            </a:r>
            <a:r>
              <a:rPr lang="en-US" dirty="0"/>
              <a:t> que </a:t>
            </a:r>
            <a:r>
              <a:rPr lang="en-US" dirty="0" err="1"/>
              <a:t>el</a:t>
            </a:r>
            <a:r>
              <a:rPr lang="en-US" dirty="0"/>
              <a:t> </a:t>
            </a:r>
            <a:r>
              <a:rPr lang="en-US" dirty="0" err="1"/>
              <a:t>ejercicio</a:t>
            </a:r>
            <a:r>
              <a:rPr lang="en-US" dirty="0"/>
              <a:t> </a:t>
            </a:r>
            <a:r>
              <a:rPr lang="en-US" dirty="0" err="1"/>
              <a:t>contribuyó</a:t>
            </a:r>
            <a:r>
              <a:rPr lang="en-US" dirty="0"/>
              <a:t> a </a:t>
            </a:r>
            <a:r>
              <a:rPr lang="en-US" dirty="0" err="1"/>
              <a:t>su</a:t>
            </a:r>
            <a:r>
              <a:rPr lang="en-US" dirty="0"/>
              <a:t> </a:t>
            </a:r>
            <a:r>
              <a:rPr lang="en-US" dirty="0" err="1"/>
              <a:t>aprendizaje</a:t>
            </a:r>
            <a:r>
              <a:rPr lang="en-US" dirty="0"/>
              <a:t>. La </a:t>
            </a:r>
            <a:r>
              <a:rPr lang="en-US" dirty="0" err="1"/>
              <a:t>baja</a:t>
            </a:r>
            <a:r>
              <a:rPr lang="en-US" dirty="0"/>
              <a:t> </a:t>
            </a:r>
            <a:r>
              <a:rPr lang="en-US" dirty="0" err="1"/>
              <a:t>desviación</a:t>
            </a:r>
            <a:r>
              <a:rPr lang="en-US" dirty="0"/>
              <a:t> </a:t>
            </a:r>
            <a:r>
              <a:rPr lang="en-US" dirty="0" err="1"/>
              <a:t>estándar</a:t>
            </a:r>
            <a:r>
              <a:rPr lang="en-US" dirty="0"/>
              <a:t> indica que </a:t>
            </a:r>
            <a:r>
              <a:rPr lang="en-US" dirty="0" err="1"/>
              <a:t>hubo</a:t>
            </a:r>
            <a:r>
              <a:rPr lang="en-US" dirty="0"/>
              <a:t> </a:t>
            </a:r>
            <a:r>
              <a:rPr lang="en-US" dirty="0" err="1"/>
              <a:t>poca</a:t>
            </a:r>
            <a:r>
              <a:rPr lang="en-US" dirty="0"/>
              <a:t> </a:t>
            </a:r>
            <a:r>
              <a:rPr lang="en-US" dirty="0" err="1"/>
              <a:t>variación</a:t>
            </a:r>
            <a:r>
              <a:rPr lang="en-US" dirty="0"/>
              <a:t> </a:t>
            </a:r>
            <a:r>
              <a:rPr lang="en-US" dirty="0" err="1"/>
              <a:t>en</a:t>
            </a:r>
            <a:r>
              <a:rPr lang="en-US" dirty="0"/>
              <a:t> las </a:t>
            </a:r>
            <a:r>
              <a:rPr lang="en-US" dirty="0" err="1"/>
              <a:t>respuestas</a:t>
            </a:r>
            <a:r>
              <a:rPr lang="en-US" dirty="0"/>
              <a:t>.</a:t>
            </a:r>
          </a:p>
          <a:p>
            <a:r>
              <a:rPr lang="en-US" dirty="0" err="1"/>
              <a:t>En</a:t>
            </a:r>
            <a:r>
              <a:rPr lang="en-US" dirty="0"/>
              <a:t> la </a:t>
            </a:r>
            <a:r>
              <a:rPr lang="en-US" dirty="0" err="1"/>
              <a:t>Sección</a:t>
            </a:r>
            <a:r>
              <a:rPr lang="en-US" dirty="0"/>
              <a:t> 1, </a:t>
            </a:r>
            <a:r>
              <a:rPr lang="en-US" dirty="0" err="1"/>
              <a:t>comparar</a:t>
            </a:r>
            <a:r>
              <a:rPr lang="en-US" dirty="0"/>
              <a:t> </a:t>
            </a:r>
            <a:r>
              <a:rPr lang="en-US" dirty="0" err="1"/>
              <a:t>el</a:t>
            </a:r>
            <a:r>
              <a:rPr lang="en-US" dirty="0"/>
              <a:t> </a:t>
            </a:r>
            <a:r>
              <a:rPr lang="en-US" dirty="0" err="1"/>
              <a:t>trabajo</a:t>
            </a:r>
            <a:r>
              <a:rPr lang="en-US" dirty="0"/>
              <a:t> de </a:t>
            </a:r>
            <a:r>
              <a:rPr lang="en-US" dirty="0" err="1"/>
              <a:t>los</a:t>
            </a:r>
            <a:r>
              <a:rPr lang="en-US" dirty="0"/>
              <a:t> </a:t>
            </a:r>
            <a:r>
              <a:rPr lang="en-US" dirty="0" err="1"/>
              <a:t>compañeros</a:t>
            </a:r>
            <a:r>
              <a:rPr lang="en-US" dirty="0"/>
              <a:t> con </a:t>
            </a:r>
            <a:r>
              <a:rPr lang="en-US" dirty="0" err="1"/>
              <a:t>el</a:t>
            </a:r>
            <a:r>
              <a:rPr lang="en-US" dirty="0"/>
              <a:t> </a:t>
            </a:r>
            <a:r>
              <a:rPr lang="en-US" dirty="0" err="1"/>
              <a:t>suyo</a:t>
            </a:r>
            <a:r>
              <a:rPr lang="en-US" dirty="0"/>
              <a:t> </a:t>
            </a:r>
            <a:r>
              <a:rPr lang="en-US" dirty="0" err="1"/>
              <a:t>propio</a:t>
            </a:r>
            <a:r>
              <a:rPr lang="en-US" dirty="0"/>
              <a:t> </a:t>
            </a:r>
            <a:r>
              <a:rPr lang="en-US" dirty="0" err="1"/>
              <a:t>fue</a:t>
            </a:r>
            <a:r>
              <a:rPr lang="en-US" dirty="0"/>
              <a:t> lo que </a:t>
            </a:r>
            <a:r>
              <a:rPr lang="en-US" dirty="0" err="1"/>
              <a:t>más</a:t>
            </a:r>
            <a:r>
              <a:rPr lang="en-US" dirty="0"/>
              <a:t> </a:t>
            </a:r>
            <a:r>
              <a:rPr lang="en-US" dirty="0" err="1"/>
              <a:t>contribuyó</a:t>
            </a:r>
            <a:r>
              <a:rPr lang="en-US" dirty="0"/>
              <a:t> </a:t>
            </a:r>
            <a:r>
              <a:rPr lang="en-US" dirty="0" err="1"/>
              <a:t>en</a:t>
            </a:r>
            <a:r>
              <a:rPr lang="en-US" dirty="0"/>
              <a:t> </a:t>
            </a:r>
            <a:r>
              <a:rPr lang="en-US" dirty="0" err="1"/>
              <a:t>promedio</a:t>
            </a:r>
            <a:r>
              <a:rPr lang="en-US" dirty="0"/>
              <a:t> al </a:t>
            </a:r>
            <a:r>
              <a:rPr lang="en-US" dirty="0" err="1"/>
              <a:t>aprendizaje</a:t>
            </a:r>
            <a:r>
              <a:rPr lang="en-US" dirty="0"/>
              <a:t> de </a:t>
            </a:r>
            <a:r>
              <a:rPr lang="en-US" dirty="0" err="1"/>
              <a:t>los</a:t>
            </a:r>
            <a:r>
              <a:rPr lang="en-US" dirty="0"/>
              <a:t> </a:t>
            </a:r>
            <a:r>
              <a:rPr lang="en-US" dirty="0" err="1"/>
              <a:t>estudiantes</a:t>
            </a:r>
            <a:r>
              <a:rPr lang="en-US" dirty="0"/>
              <a:t> </a:t>
            </a:r>
            <a:r>
              <a:rPr lang="en-US" dirty="0" err="1"/>
              <a:t>en</a:t>
            </a:r>
            <a:r>
              <a:rPr lang="en-US" dirty="0"/>
              <a:t> ambas </a:t>
            </a:r>
            <a:r>
              <a:rPr lang="en-US" dirty="0" err="1"/>
              <a:t>cohortes</a:t>
            </a:r>
            <a:r>
              <a:rPr lang="en-US" dirty="0"/>
              <a:t> (3,36 y 3,55 </a:t>
            </a:r>
            <a:r>
              <a:rPr lang="en-US" dirty="0" err="1"/>
              <a:t>respectivamente</a:t>
            </a:r>
            <a:r>
              <a:rPr lang="en-US" dirty="0"/>
              <a:t>).</a:t>
            </a:r>
          </a:p>
          <a:p>
            <a:r>
              <a:rPr lang="en-US" dirty="0"/>
              <a:t>A </a:t>
            </a:r>
            <a:r>
              <a:rPr lang="en-US" dirty="0" err="1"/>
              <a:t>partir</a:t>
            </a:r>
            <a:r>
              <a:rPr lang="en-US" dirty="0"/>
              <a:t> de </a:t>
            </a:r>
            <a:r>
              <a:rPr lang="en-US" dirty="0" err="1"/>
              <a:t>los</a:t>
            </a:r>
            <a:r>
              <a:rPr lang="en-US" dirty="0"/>
              <a:t> </a:t>
            </a:r>
            <a:r>
              <a:rPr lang="en-US" dirty="0" err="1"/>
              <a:t>resultados</a:t>
            </a:r>
            <a:r>
              <a:rPr lang="en-US" dirty="0"/>
              <a:t> de la </a:t>
            </a:r>
            <a:r>
              <a:rPr lang="en-US" dirty="0" err="1"/>
              <a:t>sección</a:t>
            </a:r>
            <a:r>
              <a:rPr lang="en-US" dirty="0"/>
              <a:t> 4, es </a:t>
            </a:r>
            <a:r>
              <a:rPr lang="en-US" dirty="0" err="1"/>
              <a:t>evidente</a:t>
            </a:r>
            <a:r>
              <a:rPr lang="en-US" dirty="0"/>
              <a:t> que </a:t>
            </a:r>
            <a:r>
              <a:rPr lang="en-US" dirty="0" err="1"/>
              <a:t>los</a:t>
            </a:r>
            <a:r>
              <a:rPr lang="en-US" dirty="0"/>
              <a:t> </a:t>
            </a:r>
            <a:r>
              <a:rPr lang="en-US" dirty="0" err="1"/>
              <a:t>estudiantes</a:t>
            </a:r>
            <a:r>
              <a:rPr lang="en-US" dirty="0"/>
              <a:t> </a:t>
            </a:r>
            <a:r>
              <a:rPr lang="en-US" dirty="0" err="1"/>
              <a:t>sintieron</a:t>
            </a:r>
            <a:r>
              <a:rPr lang="en-US" dirty="0"/>
              <a:t>, </a:t>
            </a:r>
            <a:r>
              <a:rPr lang="en-US" dirty="0" err="1"/>
              <a:t>en</a:t>
            </a:r>
            <a:r>
              <a:rPr lang="en-US" dirty="0"/>
              <a:t> </a:t>
            </a:r>
            <a:r>
              <a:rPr lang="en-US" dirty="0" err="1"/>
              <a:t>promedio</a:t>
            </a:r>
            <a:r>
              <a:rPr lang="en-US" dirty="0"/>
              <a:t>, que la </a:t>
            </a:r>
            <a:r>
              <a:rPr lang="en-US" dirty="0" err="1"/>
              <a:t>revisión</a:t>
            </a:r>
            <a:r>
              <a:rPr lang="en-US" dirty="0"/>
              <a:t> </a:t>
            </a:r>
            <a:r>
              <a:rPr lang="en-US" dirty="0" err="1"/>
              <a:t>por</a:t>
            </a:r>
            <a:r>
              <a:rPr lang="en-US" dirty="0"/>
              <a:t> pares </a:t>
            </a:r>
            <a:r>
              <a:rPr lang="en-US" dirty="0" err="1"/>
              <a:t>contribuyó</a:t>
            </a:r>
            <a:r>
              <a:rPr lang="en-US" dirty="0"/>
              <a:t> </a:t>
            </a:r>
            <a:r>
              <a:rPr lang="en-US" dirty="0" err="1"/>
              <a:t>moderadamente</a:t>
            </a:r>
            <a:r>
              <a:rPr lang="en-US" dirty="0"/>
              <a:t> a lo que un maestro </a:t>
            </a:r>
            <a:r>
              <a:rPr lang="en-US" dirty="0" err="1"/>
              <a:t>podría</a:t>
            </a:r>
            <a:r>
              <a:rPr lang="en-US" dirty="0"/>
              <a:t> </a:t>
            </a:r>
            <a:r>
              <a:rPr lang="en-US" dirty="0" err="1"/>
              <a:t>proporcionar</a:t>
            </a:r>
            <a:r>
              <a:rPr lang="en-US" dirty="0"/>
              <a:t> (</a:t>
            </a:r>
            <a:r>
              <a:rPr lang="en-US" dirty="0" err="1"/>
              <a:t>todas</a:t>
            </a:r>
            <a:r>
              <a:rPr lang="en-US" dirty="0"/>
              <a:t> las </a:t>
            </a:r>
            <a:r>
              <a:rPr lang="en-US" dirty="0" err="1"/>
              <a:t>respuestas</a:t>
            </a:r>
            <a:r>
              <a:rPr lang="en-US" dirty="0"/>
              <a:t> </a:t>
            </a:r>
            <a:r>
              <a:rPr lang="en-US" dirty="0" err="1"/>
              <a:t>promedio</a:t>
            </a:r>
            <a:r>
              <a:rPr lang="en-US" dirty="0"/>
              <a:t> </a:t>
            </a:r>
            <a:r>
              <a:rPr lang="en-US" dirty="0" err="1"/>
              <a:t>están</a:t>
            </a:r>
            <a:r>
              <a:rPr lang="en-US" dirty="0"/>
              <a:t> </a:t>
            </a:r>
            <a:r>
              <a:rPr lang="en-US" dirty="0" err="1"/>
              <a:t>por</a:t>
            </a:r>
            <a:r>
              <a:rPr lang="en-US" dirty="0"/>
              <a:t> </a:t>
            </a:r>
            <a:r>
              <a:rPr lang="en-US" dirty="0" err="1"/>
              <a:t>encima</a:t>
            </a:r>
            <a:r>
              <a:rPr lang="en-US" dirty="0"/>
              <a:t> de 3 para ambas </a:t>
            </a:r>
            <a:r>
              <a:rPr lang="en-US" dirty="0" err="1"/>
              <a:t>cohortes</a:t>
            </a:r>
            <a:r>
              <a:rPr lang="en-US" dirty="0"/>
              <a:t>).</a:t>
            </a:r>
          </a:p>
        </p:txBody>
      </p:sp>
    </p:spTree>
    <p:extLst>
      <p:ext uri="{BB962C8B-B14F-4D97-AF65-F5344CB8AC3E}">
        <p14:creationId xmlns:p14="http://schemas.microsoft.com/office/powerpoint/2010/main" val="1454477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dirty="0"/>
              <a:t>Results/</a:t>
            </a:r>
            <a:r>
              <a:rPr lang="en-US" dirty="0" err="1"/>
              <a:t>Resultados</a:t>
            </a:r>
            <a:endParaRPr lang="en-US" dirty="0"/>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3" y="2249486"/>
            <a:ext cx="4954588" cy="3859213"/>
          </a:xfrm>
        </p:spPr>
        <p:txBody>
          <a:bodyPr>
            <a:normAutofit fontScale="70000" lnSpcReduction="20000"/>
          </a:bodyPr>
          <a:lstStyle/>
          <a:p>
            <a:pPr lvl="1"/>
            <a:r>
              <a:rPr lang="en-GB" sz="2400" dirty="0"/>
              <a:t>The final sections of the questionnaire addressed concerns students had about the peer review activity. Responses indicated that on average cohort 2 had stronger concerns compared with cohort 1.</a:t>
            </a:r>
          </a:p>
          <a:p>
            <a:pPr lvl="1"/>
            <a:r>
              <a:rPr lang="en-GB" sz="2400" dirty="0"/>
              <a:t> However, the average response across both cohorts for all statements was approximately equivalent to </a:t>
            </a:r>
            <a:r>
              <a:rPr lang="en-GB" sz="2400" i="1" dirty="0"/>
              <a:t>moderately concerned. </a:t>
            </a:r>
          </a:p>
          <a:p>
            <a:pPr lvl="1"/>
            <a:r>
              <a:rPr lang="en-GB" sz="2400" dirty="0"/>
              <a:t>For both cohorts, on average, they were least concerned about </a:t>
            </a:r>
            <a:r>
              <a:rPr lang="en-GB" sz="2400" i="1" dirty="0"/>
              <a:t>sharing their work with other peers</a:t>
            </a:r>
            <a:r>
              <a:rPr lang="en-GB" sz="2400" dirty="0"/>
              <a:t> whilst they were most concerned, on average, with </a:t>
            </a:r>
            <a:r>
              <a:rPr lang="en-GB" sz="2400" i="1" dirty="0"/>
              <a:t>ending up not knowing what constitutes good quality work.</a:t>
            </a:r>
            <a:r>
              <a:rPr lang="en-GB" sz="2400" dirty="0"/>
              <a:t> </a:t>
            </a:r>
            <a:br>
              <a:rPr lang="en-GB" b="1" dirty="0"/>
            </a:br>
            <a:endParaRPr lang="en-GB" dirty="0"/>
          </a:p>
          <a:p>
            <a:pPr marL="0" indent="0">
              <a:buNone/>
            </a:pPr>
            <a:endParaRPr lang="en-US" dirty="0"/>
          </a:p>
        </p:txBody>
      </p:sp>
      <p:sp>
        <p:nvSpPr>
          <p:cNvPr id="4" name="Content Placeholder 2">
            <a:extLst>
              <a:ext uri="{FF2B5EF4-FFF2-40B4-BE49-F238E27FC236}">
                <a16:creationId xmlns:a16="http://schemas.microsoft.com/office/drawing/2014/main" id="{44734DBA-FDA6-864A-65B1-0F60F63732CF}"/>
              </a:ext>
            </a:extLst>
          </p:cNvPr>
          <p:cNvSpPr txBox="1">
            <a:spLocks/>
          </p:cNvSpPr>
          <p:nvPr/>
        </p:nvSpPr>
        <p:spPr>
          <a:xfrm>
            <a:off x="6094412" y="2289172"/>
            <a:ext cx="4954588" cy="385921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lvl="1"/>
            <a:r>
              <a:rPr lang="en-GB" sz="2400" dirty="0"/>
              <a:t>Las </a:t>
            </a:r>
            <a:r>
              <a:rPr lang="en-GB" sz="2400" dirty="0" err="1"/>
              <a:t>secciones</a:t>
            </a:r>
            <a:r>
              <a:rPr lang="en-GB" sz="2400" dirty="0"/>
              <a:t> finales del </a:t>
            </a:r>
            <a:r>
              <a:rPr lang="en-GB" sz="2400" dirty="0" err="1"/>
              <a:t>cuestionario</a:t>
            </a:r>
            <a:r>
              <a:rPr lang="en-GB" sz="2400" dirty="0"/>
              <a:t> </a:t>
            </a:r>
            <a:r>
              <a:rPr lang="en-GB" sz="2400" dirty="0" err="1"/>
              <a:t>abordaron</a:t>
            </a:r>
            <a:r>
              <a:rPr lang="en-GB" sz="2400" dirty="0"/>
              <a:t> las </a:t>
            </a:r>
            <a:r>
              <a:rPr lang="en-GB" sz="2400" dirty="0" err="1"/>
              <a:t>preocupaciones</a:t>
            </a:r>
            <a:r>
              <a:rPr lang="en-GB" sz="2400" dirty="0"/>
              <a:t> que </a:t>
            </a:r>
            <a:r>
              <a:rPr lang="en-GB" sz="2400" dirty="0" err="1"/>
              <a:t>tenían</a:t>
            </a:r>
            <a:r>
              <a:rPr lang="en-GB" sz="2400" dirty="0"/>
              <a:t> </a:t>
            </a:r>
            <a:r>
              <a:rPr lang="en-GB" sz="2400" dirty="0" err="1"/>
              <a:t>los</a:t>
            </a:r>
            <a:r>
              <a:rPr lang="en-GB" sz="2400" dirty="0"/>
              <a:t> </a:t>
            </a:r>
            <a:r>
              <a:rPr lang="en-GB" sz="2400" dirty="0" err="1"/>
              <a:t>estudiantes</a:t>
            </a:r>
            <a:r>
              <a:rPr lang="en-GB" sz="2400" dirty="0"/>
              <a:t> </a:t>
            </a:r>
            <a:r>
              <a:rPr lang="en-GB" sz="2400" dirty="0" err="1"/>
              <a:t>sobre</a:t>
            </a:r>
            <a:r>
              <a:rPr lang="en-GB" sz="2400" dirty="0"/>
              <a:t> la </a:t>
            </a:r>
            <a:r>
              <a:rPr lang="en-GB" sz="2400" dirty="0" err="1"/>
              <a:t>actividad</a:t>
            </a:r>
            <a:r>
              <a:rPr lang="en-GB" sz="2400" dirty="0"/>
              <a:t> de </a:t>
            </a:r>
            <a:r>
              <a:rPr lang="en-GB" sz="2400" dirty="0" err="1"/>
              <a:t>revisión</a:t>
            </a:r>
            <a:r>
              <a:rPr lang="en-GB" sz="2400" dirty="0"/>
              <a:t> </a:t>
            </a:r>
            <a:r>
              <a:rPr lang="en-GB" sz="2400" dirty="0" err="1"/>
              <a:t>por</a:t>
            </a:r>
            <a:r>
              <a:rPr lang="en-GB" sz="2400" dirty="0"/>
              <a:t> pares. Las </a:t>
            </a:r>
            <a:r>
              <a:rPr lang="en-GB" sz="2400" dirty="0" err="1"/>
              <a:t>respuestas</a:t>
            </a:r>
            <a:r>
              <a:rPr lang="en-GB" sz="2400" dirty="0"/>
              <a:t> </a:t>
            </a:r>
            <a:r>
              <a:rPr lang="en-GB" sz="2400" dirty="0" err="1"/>
              <a:t>indicaron</a:t>
            </a:r>
            <a:r>
              <a:rPr lang="en-GB" sz="2400" dirty="0"/>
              <a:t> que, </a:t>
            </a:r>
            <a:r>
              <a:rPr lang="en-GB" sz="2400" dirty="0" err="1"/>
              <a:t>en</a:t>
            </a:r>
            <a:r>
              <a:rPr lang="en-GB" sz="2400" dirty="0"/>
              <a:t> </a:t>
            </a:r>
            <a:r>
              <a:rPr lang="en-GB" sz="2400" dirty="0" err="1"/>
              <a:t>promedio</a:t>
            </a:r>
            <a:r>
              <a:rPr lang="en-GB" sz="2400" dirty="0"/>
              <a:t>, la </a:t>
            </a:r>
            <a:r>
              <a:rPr lang="en-GB" sz="2400" dirty="0" err="1"/>
              <a:t>cohorte</a:t>
            </a:r>
            <a:r>
              <a:rPr lang="en-GB" sz="2400" dirty="0"/>
              <a:t> 2 </a:t>
            </a:r>
            <a:r>
              <a:rPr lang="en-GB" sz="2400" dirty="0" err="1"/>
              <a:t>tenía</a:t>
            </a:r>
            <a:r>
              <a:rPr lang="en-GB" sz="2400" dirty="0"/>
              <a:t> </a:t>
            </a:r>
            <a:r>
              <a:rPr lang="en-GB" sz="2400" dirty="0" err="1"/>
              <a:t>preocupaciones</a:t>
            </a:r>
            <a:r>
              <a:rPr lang="en-GB" sz="2400" dirty="0"/>
              <a:t> </a:t>
            </a:r>
            <a:r>
              <a:rPr lang="en-GB" sz="2400" dirty="0" err="1"/>
              <a:t>más</a:t>
            </a:r>
            <a:r>
              <a:rPr lang="en-GB" sz="2400" dirty="0"/>
              <a:t> </a:t>
            </a:r>
            <a:r>
              <a:rPr lang="en-GB" sz="2400" dirty="0" err="1"/>
              <a:t>fuertes</a:t>
            </a:r>
            <a:r>
              <a:rPr lang="en-GB" sz="2400" dirty="0"/>
              <a:t> </a:t>
            </a:r>
            <a:r>
              <a:rPr lang="en-GB" sz="2400" dirty="0" err="1"/>
              <a:t>en</a:t>
            </a:r>
            <a:r>
              <a:rPr lang="en-GB" sz="2400" dirty="0"/>
              <a:t> </a:t>
            </a:r>
            <a:r>
              <a:rPr lang="en-GB" sz="2400" dirty="0" err="1"/>
              <a:t>comparación</a:t>
            </a:r>
            <a:r>
              <a:rPr lang="en-GB" sz="2400" dirty="0"/>
              <a:t> con la </a:t>
            </a:r>
            <a:r>
              <a:rPr lang="en-GB" sz="2400" dirty="0" err="1"/>
              <a:t>cohorte</a:t>
            </a:r>
            <a:r>
              <a:rPr lang="en-GB" sz="2400" dirty="0"/>
              <a:t> 1.</a:t>
            </a:r>
          </a:p>
          <a:p>
            <a:pPr lvl="1"/>
            <a:r>
              <a:rPr lang="en-GB" sz="2400" dirty="0"/>
              <a:t> Sin embargo, la </a:t>
            </a:r>
            <a:r>
              <a:rPr lang="en-GB" sz="2400" dirty="0" err="1"/>
              <a:t>respuesta</a:t>
            </a:r>
            <a:r>
              <a:rPr lang="en-GB" sz="2400" dirty="0"/>
              <a:t> </a:t>
            </a:r>
            <a:r>
              <a:rPr lang="en-GB" sz="2400" dirty="0" err="1"/>
              <a:t>promedio</a:t>
            </a:r>
            <a:r>
              <a:rPr lang="en-GB" sz="2400" dirty="0"/>
              <a:t> </a:t>
            </a:r>
            <a:r>
              <a:rPr lang="en-GB" sz="2400" dirty="0" err="1"/>
              <a:t>en</a:t>
            </a:r>
            <a:r>
              <a:rPr lang="en-GB" sz="2400" dirty="0"/>
              <a:t> ambas </a:t>
            </a:r>
            <a:r>
              <a:rPr lang="en-GB" sz="2400" dirty="0" err="1"/>
              <a:t>cohortes</a:t>
            </a:r>
            <a:r>
              <a:rPr lang="en-GB" sz="2400" dirty="0"/>
              <a:t> para </a:t>
            </a:r>
            <a:r>
              <a:rPr lang="en-GB" sz="2400" dirty="0" err="1"/>
              <a:t>todas</a:t>
            </a:r>
            <a:r>
              <a:rPr lang="en-GB" sz="2400" dirty="0"/>
              <a:t> las </a:t>
            </a:r>
            <a:r>
              <a:rPr lang="en-GB" sz="2400" dirty="0" err="1"/>
              <a:t>declaraciones</a:t>
            </a:r>
            <a:r>
              <a:rPr lang="en-GB" sz="2400" dirty="0"/>
              <a:t> </a:t>
            </a:r>
            <a:r>
              <a:rPr lang="en-GB" sz="2400" dirty="0" err="1"/>
              <a:t>fue</a:t>
            </a:r>
            <a:r>
              <a:rPr lang="en-GB" sz="2400" dirty="0"/>
              <a:t> </a:t>
            </a:r>
            <a:r>
              <a:rPr lang="en-GB" sz="2400" dirty="0" err="1"/>
              <a:t>aproximadamente</a:t>
            </a:r>
            <a:r>
              <a:rPr lang="en-GB" sz="2400" dirty="0"/>
              <a:t> </a:t>
            </a:r>
            <a:r>
              <a:rPr lang="en-GB" sz="2400" dirty="0" err="1"/>
              <a:t>equivalente</a:t>
            </a:r>
            <a:r>
              <a:rPr lang="en-GB" sz="2400" dirty="0"/>
              <a:t> a </a:t>
            </a:r>
            <a:r>
              <a:rPr lang="en-GB" sz="2400" dirty="0" err="1"/>
              <a:t>moderadamente</a:t>
            </a:r>
            <a:r>
              <a:rPr lang="en-GB" sz="2400" dirty="0"/>
              <a:t> </a:t>
            </a:r>
            <a:r>
              <a:rPr lang="en-GB" sz="2400" dirty="0" err="1"/>
              <a:t>preocupado</a:t>
            </a:r>
            <a:r>
              <a:rPr lang="en-GB" sz="2400" dirty="0"/>
              <a:t>.</a:t>
            </a:r>
          </a:p>
          <a:p>
            <a:pPr lvl="1"/>
            <a:r>
              <a:rPr lang="en-GB" sz="2400" dirty="0"/>
              <a:t>Para ambas </a:t>
            </a:r>
            <a:r>
              <a:rPr lang="en-GB" sz="2400" dirty="0" err="1"/>
              <a:t>cohortes</a:t>
            </a:r>
            <a:r>
              <a:rPr lang="en-GB" sz="2400" dirty="0"/>
              <a:t>, </a:t>
            </a:r>
            <a:r>
              <a:rPr lang="en-GB" sz="2400" dirty="0" err="1"/>
              <a:t>en</a:t>
            </a:r>
            <a:r>
              <a:rPr lang="en-GB" sz="2400" dirty="0"/>
              <a:t> </a:t>
            </a:r>
            <a:r>
              <a:rPr lang="en-GB" sz="2400" dirty="0" err="1"/>
              <a:t>promedio</a:t>
            </a:r>
            <a:r>
              <a:rPr lang="en-GB" sz="2400" dirty="0"/>
              <a:t>, </a:t>
            </a:r>
            <a:r>
              <a:rPr lang="en-GB" sz="2400" dirty="0" err="1"/>
              <a:t>estaban</a:t>
            </a:r>
            <a:r>
              <a:rPr lang="en-GB" sz="2400" dirty="0"/>
              <a:t> </a:t>
            </a:r>
            <a:r>
              <a:rPr lang="en-GB" sz="2400" dirty="0" err="1"/>
              <a:t>menos</a:t>
            </a:r>
            <a:r>
              <a:rPr lang="en-GB" sz="2400" dirty="0"/>
              <a:t> </a:t>
            </a:r>
            <a:r>
              <a:rPr lang="en-GB" sz="2400" dirty="0" err="1"/>
              <a:t>preocupados</a:t>
            </a:r>
            <a:r>
              <a:rPr lang="en-GB" sz="2400" dirty="0"/>
              <a:t> </a:t>
            </a:r>
            <a:r>
              <a:rPr lang="en-GB" sz="2400" dirty="0" err="1"/>
              <a:t>por</a:t>
            </a:r>
            <a:r>
              <a:rPr lang="en-GB" sz="2400" dirty="0"/>
              <a:t> </a:t>
            </a:r>
            <a:r>
              <a:rPr lang="en-GB" sz="2400" dirty="0" err="1"/>
              <a:t>compartir</a:t>
            </a:r>
            <a:r>
              <a:rPr lang="en-GB" sz="2400" dirty="0"/>
              <a:t> </a:t>
            </a:r>
            <a:r>
              <a:rPr lang="en-GB" sz="2400" dirty="0" err="1"/>
              <a:t>su</a:t>
            </a:r>
            <a:r>
              <a:rPr lang="en-GB" sz="2400" dirty="0"/>
              <a:t> </a:t>
            </a:r>
            <a:r>
              <a:rPr lang="en-GB" sz="2400" dirty="0" err="1"/>
              <a:t>trabajo</a:t>
            </a:r>
            <a:r>
              <a:rPr lang="en-GB" sz="2400" dirty="0"/>
              <a:t> con </a:t>
            </a:r>
            <a:r>
              <a:rPr lang="en-GB" sz="2400" dirty="0" err="1"/>
              <a:t>otros</a:t>
            </a:r>
            <a:r>
              <a:rPr lang="en-GB" sz="2400" dirty="0"/>
              <a:t> </a:t>
            </a:r>
            <a:r>
              <a:rPr lang="en-GB" sz="2400" dirty="0" err="1"/>
              <a:t>compañeros</a:t>
            </a:r>
            <a:r>
              <a:rPr lang="en-GB" sz="2400" dirty="0"/>
              <a:t>, </a:t>
            </a:r>
            <a:r>
              <a:rPr lang="en-GB" sz="2400" dirty="0" err="1"/>
              <a:t>mientras</a:t>
            </a:r>
            <a:r>
              <a:rPr lang="en-GB" sz="2400" dirty="0"/>
              <a:t> que </a:t>
            </a:r>
            <a:r>
              <a:rPr lang="en-GB" sz="2400" dirty="0" err="1"/>
              <a:t>estaban</a:t>
            </a:r>
            <a:r>
              <a:rPr lang="en-GB" sz="2400" dirty="0"/>
              <a:t> </a:t>
            </a:r>
            <a:r>
              <a:rPr lang="en-GB" sz="2400" dirty="0" err="1"/>
              <a:t>más</a:t>
            </a:r>
            <a:r>
              <a:rPr lang="en-GB" sz="2400" dirty="0"/>
              <a:t> </a:t>
            </a:r>
            <a:r>
              <a:rPr lang="en-GB" sz="2400" dirty="0" err="1"/>
              <a:t>preocupados</a:t>
            </a:r>
            <a:r>
              <a:rPr lang="en-GB" sz="2400" dirty="0"/>
              <a:t>, </a:t>
            </a:r>
            <a:r>
              <a:rPr lang="en-GB" sz="2400" dirty="0" err="1"/>
              <a:t>en</a:t>
            </a:r>
            <a:r>
              <a:rPr lang="en-GB" sz="2400" dirty="0"/>
              <a:t> </a:t>
            </a:r>
            <a:r>
              <a:rPr lang="en-GB" sz="2400" dirty="0" err="1"/>
              <a:t>promedio</a:t>
            </a:r>
            <a:r>
              <a:rPr lang="en-GB" sz="2400" dirty="0"/>
              <a:t>, </a:t>
            </a:r>
            <a:r>
              <a:rPr lang="en-GB" sz="2400" dirty="0" err="1"/>
              <a:t>por</a:t>
            </a:r>
            <a:r>
              <a:rPr lang="en-GB" sz="2400" dirty="0"/>
              <a:t> </a:t>
            </a:r>
            <a:r>
              <a:rPr lang="en-GB" sz="2400" dirty="0" err="1"/>
              <a:t>terminar</a:t>
            </a:r>
            <a:r>
              <a:rPr lang="en-GB" sz="2400" dirty="0"/>
              <a:t> sin </a:t>
            </a:r>
            <a:r>
              <a:rPr lang="en-GB" sz="2400" dirty="0" err="1"/>
              <a:t>saber</a:t>
            </a:r>
            <a:r>
              <a:rPr lang="en-GB" sz="2400" dirty="0"/>
              <a:t> </a:t>
            </a:r>
            <a:r>
              <a:rPr lang="en-GB" sz="2400" dirty="0" err="1"/>
              <a:t>qué</a:t>
            </a:r>
            <a:r>
              <a:rPr lang="en-GB" sz="2400" dirty="0"/>
              <a:t> </a:t>
            </a:r>
            <a:r>
              <a:rPr lang="en-GB" sz="2400" dirty="0" err="1"/>
              <a:t>constituye</a:t>
            </a:r>
            <a:r>
              <a:rPr lang="en-GB" sz="2400" dirty="0"/>
              <a:t> un </a:t>
            </a:r>
            <a:r>
              <a:rPr lang="en-GB" sz="2400" dirty="0" err="1"/>
              <a:t>trabajo</a:t>
            </a:r>
            <a:r>
              <a:rPr lang="en-GB" sz="2400" dirty="0"/>
              <a:t> de </a:t>
            </a:r>
            <a:r>
              <a:rPr lang="en-GB" sz="2400" dirty="0" err="1"/>
              <a:t>buena</a:t>
            </a:r>
            <a:r>
              <a:rPr lang="en-GB" sz="2400" dirty="0"/>
              <a:t> </a:t>
            </a:r>
            <a:r>
              <a:rPr lang="en-GB" sz="2400" dirty="0" err="1"/>
              <a:t>calidad</a:t>
            </a:r>
            <a:r>
              <a:rPr lang="en-GB" sz="2400" dirty="0"/>
              <a:t>.</a:t>
            </a:r>
            <a:endParaRPr lang="en-US" dirty="0"/>
          </a:p>
        </p:txBody>
      </p:sp>
    </p:spTree>
    <p:extLst>
      <p:ext uri="{BB962C8B-B14F-4D97-AF65-F5344CB8AC3E}">
        <p14:creationId xmlns:p14="http://schemas.microsoft.com/office/powerpoint/2010/main" val="257101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dirty="0"/>
              <a:t>Discussion/</a:t>
            </a:r>
            <a:r>
              <a:rPr lang="en-US" dirty="0" err="1"/>
              <a:t>Discusión</a:t>
            </a:r>
            <a:endParaRPr lang="en-US" dirty="0"/>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3" y="2249487"/>
            <a:ext cx="4954588" cy="3541714"/>
          </a:xfrm>
        </p:spPr>
        <p:txBody>
          <a:bodyPr>
            <a:normAutofit fontScale="70000" lnSpcReduction="20000"/>
          </a:bodyPr>
          <a:lstStyle/>
          <a:p>
            <a:r>
              <a:rPr lang="en-US" dirty="0"/>
              <a:t>Due to a lack of data, it is difficult to draw conclusions from this study however, this is the preliminary stages of what is envisaged to be a long-term study covering several years of cohorts of students.</a:t>
            </a:r>
          </a:p>
          <a:p>
            <a:r>
              <a:rPr lang="en-US" dirty="0"/>
              <a:t> Initial impressions from the small sample of data available indicated the peer review activity contributed to student learning with comparing their work to a peers’ contributing most on average to their perceived learning.</a:t>
            </a:r>
          </a:p>
          <a:p>
            <a:r>
              <a:rPr lang="en-US" dirty="0"/>
              <a:t> This is a similar conclusion to Nicol and MacCallum (2022). </a:t>
            </a:r>
          </a:p>
        </p:txBody>
      </p:sp>
      <p:sp>
        <p:nvSpPr>
          <p:cNvPr id="4" name="Content Placeholder 2">
            <a:extLst>
              <a:ext uri="{FF2B5EF4-FFF2-40B4-BE49-F238E27FC236}">
                <a16:creationId xmlns:a16="http://schemas.microsoft.com/office/drawing/2014/main" id="{864CAFA6-B4EA-3F60-C3BB-F7541F630A2F}"/>
              </a:ext>
            </a:extLst>
          </p:cNvPr>
          <p:cNvSpPr txBox="1">
            <a:spLocks/>
          </p:cNvSpPr>
          <p:nvPr/>
        </p:nvSpPr>
        <p:spPr>
          <a:xfrm>
            <a:off x="6183313" y="2251074"/>
            <a:ext cx="4954588" cy="35417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sz="1500" dirty="0" err="1"/>
              <a:t>Debido</a:t>
            </a:r>
            <a:r>
              <a:rPr lang="en-US" sz="1500" dirty="0"/>
              <a:t> a la </a:t>
            </a:r>
            <a:r>
              <a:rPr lang="en-US" sz="1500" dirty="0" err="1"/>
              <a:t>falta</a:t>
            </a:r>
            <a:r>
              <a:rPr lang="en-US" sz="1500" dirty="0"/>
              <a:t> de </a:t>
            </a:r>
            <a:r>
              <a:rPr lang="en-US" sz="1500" dirty="0" err="1"/>
              <a:t>datos</a:t>
            </a:r>
            <a:r>
              <a:rPr lang="en-US" sz="1500" dirty="0"/>
              <a:t>, es </a:t>
            </a:r>
            <a:r>
              <a:rPr lang="en-US" sz="1500" dirty="0" err="1"/>
              <a:t>difícil</a:t>
            </a:r>
            <a:r>
              <a:rPr lang="en-US" sz="1500" dirty="0"/>
              <a:t> </a:t>
            </a:r>
            <a:r>
              <a:rPr lang="en-US" sz="1500" dirty="0" err="1"/>
              <a:t>sacar</a:t>
            </a:r>
            <a:r>
              <a:rPr lang="en-US" sz="1500" dirty="0"/>
              <a:t> </a:t>
            </a:r>
            <a:r>
              <a:rPr lang="en-US" sz="1500" dirty="0" err="1"/>
              <a:t>conclusiones</a:t>
            </a:r>
            <a:r>
              <a:rPr lang="en-US" sz="1500" dirty="0"/>
              <a:t> de </a:t>
            </a:r>
            <a:r>
              <a:rPr lang="en-US" sz="1500" dirty="0" err="1"/>
              <a:t>este</a:t>
            </a:r>
            <a:r>
              <a:rPr lang="en-US" sz="1500" dirty="0"/>
              <a:t> </a:t>
            </a:r>
            <a:r>
              <a:rPr lang="en-US" sz="1500" dirty="0" err="1"/>
              <a:t>estudio</a:t>
            </a:r>
            <a:r>
              <a:rPr lang="en-US" sz="1500" dirty="0"/>
              <a:t>; sin embargo, </a:t>
            </a:r>
            <a:r>
              <a:rPr lang="en-US" sz="1500" dirty="0" err="1"/>
              <a:t>estas</a:t>
            </a:r>
            <a:r>
              <a:rPr lang="en-US" sz="1500" dirty="0"/>
              <a:t> son las </a:t>
            </a:r>
            <a:r>
              <a:rPr lang="en-US" sz="1500" dirty="0" err="1"/>
              <a:t>etapas</a:t>
            </a:r>
            <a:r>
              <a:rPr lang="en-US" sz="1500" dirty="0"/>
              <a:t> </a:t>
            </a:r>
            <a:r>
              <a:rPr lang="en-US" sz="1500" dirty="0" err="1"/>
              <a:t>preliminares</a:t>
            </a:r>
            <a:r>
              <a:rPr lang="en-US" sz="1500" dirty="0"/>
              <a:t> de lo que se </a:t>
            </a:r>
            <a:r>
              <a:rPr lang="en-US" sz="1500" dirty="0" err="1"/>
              <a:t>prevé</a:t>
            </a:r>
            <a:r>
              <a:rPr lang="en-US" sz="1500" dirty="0"/>
              <a:t> que sea un </a:t>
            </a:r>
            <a:r>
              <a:rPr lang="en-US" sz="1500" dirty="0" err="1"/>
              <a:t>estudio</a:t>
            </a:r>
            <a:r>
              <a:rPr lang="en-US" sz="1500" dirty="0"/>
              <a:t> a largo </a:t>
            </a:r>
            <a:r>
              <a:rPr lang="en-US" sz="1500" dirty="0" err="1"/>
              <a:t>plazo</a:t>
            </a:r>
            <a:r>
              <a:rPr lang="en-US" sz="1500" dirty="0"/>
              <a:t> que </a:t>
            </a:r>
            <a:r>
              <a:rPr lang="en-US" sz="1500" dirty="0" err="1"/>
              <a:t>cubra</a:t>
            </a:r>
            <a:r>
              <a:rPr lang="en-US" sz="1500" dirty="0"/>
              <a:t> </a:t>
            </a:r>
            <a:r>
              <a:rPr lang="en-US" sz="1500" dirty="0" err="1"/>
              <a:t>varios</a:t>
            </a:r>
            <a:r>
              <a:rPr lang="en-US" sz="1500" dirty="0"/>
              <a:t> </a:t>
            </a:r>
            <a:r>
              <a:rPr lang="en-US" sz="1500" dirty="0" err="1"/>
              <a:t>años</a:t>
            </a:r>
            <a:r>
              <a:rPr lang="en-US" sz="1500" dirty="0"/>
              <a:t> de </a:t>
            </a:r>
            <a:r>
              <a:rPr lang="en-US" sz="1500" dirty="0" err="1"/>
              <a:t>cohortes</a:t>
            </a:r>
            <a:r>
              <a:rPr lang="en-US" sz="1500" dirty="0"/>
              <a:t> de </a:t>
            </a:r>
            <a:r>
              <a:rPr lang="en-US" sz="1500" dirty="0" err="1"/>
              <a:t>estudiantes</a:t>
            </a:r>
            <a:r>
              <a:rPr lang="en-US" sz="1500" dirty="0"/>
              <a:t>.</a:t>
            </a:r>
          </a:p>
          <a:p>
            <a:r>
              <a:rPr lang="en-US" sz="1500" dirty="0"/>
              <a:t> Las </a:t>
            </a:r>
            <a:r>
              <a:rPr lang="en-US" sz="1500" dirty="0" err="1"/>
              <a:t>impresiones</a:t>
            </a:r>
            <a:r>
              <a:rPr lang="en-US" sz="1500" dirty="0"/>
              <a:t> </a:t>
            </a:r>
            <a:r>
              <a:rPr lang="en-US" sz="1500" dirty="0" err="1"/>
              <a:t>iniciales</a:t>
            </a:r>
            <a:r>
              <a:rPr lang="en-US" sz="1500" dirty="0"/>
              <a:t> de la </a:t>
            </a:r>
            <a:r>
              <a:rPr lang="en-US" sz="1500" dirty="0" err="1"/>
              <a:t>pequeña</a:t>
            </a:r>
            <a:r>
              <a:rPr lang="en-US" sz="1500" dirty="0"/>
              <a:t> </a:t>
            </a:r>
            <a:r>
              <a:rPr lang="en-US" sz="1500" dirty="0" err="1"/>
              <a:t>muestra</a:t>
            </a:r>
            <a:r>
              <a:rPr lang="en-US" sz="1500" dirty="0"/>
              <a:t> de </a:t>
            </a:r>
            <a:r>
              <a:rPr lang="en-US" sz="1500" dirty="0" err="1"/>
              <a:t>datos</a:t>
            </a:r>
            <a:r>
              <a:rPr lang="en-US" sz="1500" dirty="0"/>
              <a:t> </a:t>
            </a:r>
            <a:r>
              <a:rPr lang="en-US" sz="1500" dirty="0" err="1"/>
              <a:t>disponibles</a:t>
            </a:r>
            <a:r>
              <a:rPr lang="en-US" sz="1500" dirty="0"/>
              <a:t> </a:t>
            </a:r>
            <a:r>
              <a:rPr lang="en-US" sz="1500" dirty="0" err="1"/>
              <a:t>indicaron</a:t>
            </a:r>
            <a:r>
              <a:rPr lang="en-US" sz="1500" dirty="0"/>
              <a:t> que la </a:t>
            </a:r>
            <a:r>
              <a:rPr lang="en-US" sz="1500" dirty="0" err="1"/>
              <a:t>actividad</a:t>
            </a:r>
            <a:r>
              <a:rPr lang="en-US" sz="1500" dirty="0"/>
              <a:t> de </a:t>
            </a:r>
            <a:r>
              <a:rPr lang="en-US" sz="1500" dirty="0" err="1"/>
              <a:t>revisión</a:t>
            </a:r>
            <a:r>
              <a:rPr lang="en-US" sz="1500" dirty="0"/>
              <a:t> </a:t>
            </a:r>
            <a:r>
              <a:rPr lang="en-US" sz="1500" dirty="0" err="1"/>
              <a:t>por</a:t>
            </a:r>
            <a:r>
              <a:rPr lang="en-US" sz="1500" dirty="0"/>
              <a:t> pares </a:t>
            </a:r>
            <a:r>
              <a:rPr lang="en-US" sz="1500" dirty="0" err="1"/>
              <a:t>contribuyó</a:t>
            </a:r>
            <a:r>
              <a:rPr lang="en-US" sz="1500" dirty="0"/>
              <a:t> al </a:t>
            </a:r>
            <a:r>
              <a:rPr lang="en-US" sz="1500" dirty="0" err="1"/>
              <a:t>aprendizaje</a:t>
            </a:r>
            <a:r>
              <a:rPr lang="en-US" sz="1500" dirty="0"/>
              <a:t> de </a:t>
            </a:r>
            <a:r>
              <a:rPr lang="en-US" sz="1500" dirty="0" err="1"/>
              <a:t>los</a:t>
            </a:r>
            <a:r>
              <a:rPr lang="en-US" sz="1500" dirty="0"/>
              <a:t> </a:t>
            </a:r>
            <a:r>
              <a:rPr lang="en-US" sz="1500" dirty="0" err="1"/>
              <a:t>estudiantes</a:t>
            </a:r>
            <a:r>
              <a:rPr lang="en-US" sz="1500" dirty="0"/>
              <a:t> al </a:t>
            </a:r>
            <a:r>
              <a:rPr lang="en-US" sz="1500" dirty="0" err="1"/>
              <a:t>comparar</a:t>
            </a:r>
            <a:r>
              <a:rPr lang="en-US" sz="1500" dirty="0"/>
              <a:t> </a:t>
            </a:r>
            <a:r>
              <a:rPr lang="en-US" sz="1500" dirty="0" err="1"/>
              <a:t>su</a:t>
            </a:r>
            <a:r>
              <a:rPr lang="en-US" sz="1500" dirty="0"/>
              <a:t> </a:t>
            </a:r>
            <a:r>
              <a:rPr lang="en-US" sz="1500" dirty="0" err="1"/>
              <a:t>trabajo</a:t>
            </a:r>
            <a:r>
              <a:rPr lang="en-US" sz="1500" dirty="0"/>
              <a:t> con </a:t>
            </a:r>
            <a:r>
              <a:rPr lang="en-US" sz="1500" dirty="0" err="1"/>
              <a:t>el</a:t>
            </a:r>
            <a:r>
              <a:rPr lang="en-US" sz="1500" dirty="0"/>
              <a:t> de sus </a:t>
            </a:r>
            <a:r>
              <a:rPr lang="en-US" sz="1500" dirty="0" err="1"/>
              <a:t>compañeros</a:t>
            </a:r>
            <a:r>
              <a:rPr lang="en-US" sz="1500" dirty="0"/>
              <a:t>, lo que </a:t>
            </a:r>
            <a:r>
              <a:rPr lang="en-US" sz="1500" dirty="0" err="1"/>
              <a:t>contribuyó</a:t>
            </a:r>
            <a:r>
              <a:rPr lang="en-US" sz="1500" dirty="0"/>
              <a:t> </a:t>
            </a:r>
            <a:r>
              <a:rPr lang="en-US" sz="1500" dirty="0" err="1"/>
              <a:t>más</a:t>
            </a:r>
            <a:r>
              <a:rPr lang="en-US" sz="1500" dirty="0"/>
              <a:t> </a:t>
            </a:r>
            <a:r>
              <a:rPr lang="en-US" sz="1500" dirty="0" err="1"/>
              <a:t>en</a:t>
            </a:r>
            <a:r>
              <a:rPr lang="en-US" sz="1500" dirty="0"/>
              <a:t> </a:t>
            </a:r>
            <a:r>
              <a:rPr lang="en-US" sz="1500" dirty="0" err="1"/>
              <a:t>promedio</a:t>
            </a:r>
            <a:r>
              <a:rPr lang="en-US" sz="1500" dirty="0"/>
              <a:t> a </a:t>
            </a:r>
            <a:r>
              <a:rPr lang="en-US" sz="1500" dirty="0" err="1"/>
              <a:t>su</a:t>
            </a:r>
            <a:r>
              <a:rPr lang="en-US" sz="1500" dirty="0"/>
              <a:t> </a:t>
            </a:r>
            <a:r>
              <a:rPr lang="en-US" sz="1500" dirty="0" err="1"/>
              <a:t>aprendizaje</a:t>
            </a:r>
            <a:r>
              <a:rPr lang="en-US" sz="1500" dirty="0"/>
              <a:t> </a:t>
            </a:r>
            <a:r>
              <a:rPr lang="en-US" sz="1500" dirty="0" err="1"/>
              <a:t>percibido</a:t>
            </a:r>
            <a:r>
              <a:rPr lang="en-US" sz="1500" dirty="0"/>
              <a:t>.</a:t>
            </a:r>
          </a:p>
          <a:p>
            <a:r>
              <a:rPr lang="en-US" sz="1500" dirty="0"/>
              <a:t> </a:t>
            </a:r>
            <a:r>
              <a:rPr lang="en-US" sz="1500" dirty="0" err="1"/>
              <a:t>Esta</a:t>
            </a:r>
            <a:r>
              <a:rPr lang="en-US" sz="1500" dirty="0"/>
              <a:t> es </a:t>
            </a:r>
            <a:r>
              <a:rPr lang="en-US" sz="1500" dirty="0" err="1"/>
              <a:t>una</a:t>
            </a:r>
            <a:r>
              <a:rPr lang="en-US" sz="1500" dirty="0"/>
              <a:t> </a:t>
            </a:r>
            <a:r>
              <a:rPr lang="en-US" sz="1500" dirty="0" err="1"/>
              <a:t>conclusión</a:t>
            </a:r>
            <a:r>
              <a:rPr lang="en-US" sz="1500" dirty="0"/>
              <a:t> similar a la de Nicol y MacCallum (2022).</a:t>
            </a:r>
          </a:p>
        </p:txBody>
      </p:sp>
    </p:spTree>
    <p:extLst>
      <p:ext uri="{BB962C8B-B14F-4D97-AF65-F5344CB8AC3E}">
        <p14:creationId xmlns:p14="http://schemas.microsoft.com/office/powerpoint/2010/main" val="2505971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dirty="0"/>
              <a:t>Discussion/</a:t>
            </a:r>
            <a:r>
              <a:rPr lang="en-US" dirty="0" err="1"/>
              <a:t>Discusión</a:t>
            </a:r>
            <a:endParaRPr lang="en-US" dirty="0"/>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3" y="2249487"/>
            <a:ext cx="4954588" cy="3541714"/>
          </a:xfrm>
        </p:spPr>
        <p:txBody>
          <a:bodyPr>
            <a:normAutofit fontScale="85000" lnSpcReduction="20000"/>
          </a:bodyPr>
          <a:lstStyle/>
          <a:p>
            <a:r>
              <a:rPr lang="en-GB" dirty="0"/>
              <a:t>In the open questions at the end of the questionnaire, several students mentioned that it would be helpful to have seen the teacher’s feedback on the same piece of work to allow them to compare with the feedback they gave. </a:t>
            </a:r>
          </a:p>
          <a:p>
            <a:r>
              <a:rPr lang="en-GB" dirty="0"/>
              <a:t>This is an idea that could be incorporated post-review to prevent having access to teacher feedback influencing the feedback provided by the student.</a:t>
            </a:r>
          </a:p>
          <a:p>
            <a:endParaRPr lang="en-US" dirty="0"/>
          </a:p>
        </p:txBody>
      </p:sp>
      <p:sp>
        <p:nvSpPr>
          <p:cNvPr id="4" name="Content Placeholder 2">
            <a:extLst>
              <a:ext uri="{FF2B5EF4-FFF2-40B4-BE49-F238E27FC236}">
                <a16:creationId xmlns:a16="http://schemas.microsoft.com/office/drawing/2014/main" id="{631AB4AA-C376-E580-5F8B-7012941BAF75}"/>
              </a:ext>
            </a:extLst>
          </p:cNvPr>
          <p:cNvSpPr txBox="1">
            <a:spLocks/>
          </p:cNvSpPr>
          <p:nvPr/>
        </p:nvSpPr>
        <p:spPr>
          <a:xfrm>
            <a:off x="6094412" y="2249487"/>
            <a:ext cx="4954588" cy="354171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err="1"/>
              <a:t>En</a:t>
            </a:r>
            <a:r>
              <a:rPr lang="en-US" dirty="0"/>
              <a:t> las </a:t>
            </a:r>
            <a:r>
              <a:rPr lang="en-US" dirty="0" err="1"/>
              <a:t>preguntas</a:t>
            </a:r>
            <a:r>
              <a:rPr lang="en-US" dirty="0"/>
              <a:t> </a:t>
            </a:r>
            <a:r>
              <a:rPr lang="en-US" dirty="0" err="1"/>
              <a:t>abiertas</a:t>
            </a:r>
            <a:r>
              <a:rPr lang="en-US" dirty="0"/>
              <a:t> al final del </a:t>
            </a:r>
            <a:r>
              <a:rPr lang="en-US" dirty="0" err="1"/>
              <a:t>cuestionario</a:t>
            </a:r>
            <a:r>
              <a:rPr lang="en-US" dirty="0"/>
              <a:t>, </a:t>
            </a:r>
            <a:r>
              <a:rPr lang="en-US" dirty="0" err="1"/>
              <a:t>varios</a:t>
            </a:r>
            <a:r>
              <a:rPr lang="en-US" dirty="0"/>
              <a:t> </a:t>
            </a:r>
            <a:r>
              <a:rPr lang="en-US" dirty="0" err="1"/>
              <a:t>estudiantes</a:t>
            </a:r>
            <a:r>
              <a:rPr lang="en-US" dirty="0"/>
              <a:t> </a:t>
            </a:r>
            <a:r>
              <a:rPr lang="en-US" dirty="0" err="1"/>
              <a:t>mencionaron</a:t>
            </a:r>
            <a:r>
              <a:rPr lang="en-US" dirty="0"/>
              <a:t> que </a:t>
            </a:r>
            <a:r>
              <a:rPr lang="en-US" dirty="0" err="1"/>
              <a:t>sería</a:t>
            </a:r>
            <a:r>
              <a:rPr lang="en-US" dirty="0"/>
              <a:t> </a:t>
            </a:r>
            <a:r>
              <a:rPr lang="en-US" dirty="0" err="1"/>
              <a:t>útil</a:t>
            </a:r>
            <a:r>
              <a:rPr lang="en-US" dirty="0"/>
              <a:t> </a:t>
            </a:r>
            <a:r>
              <a:rPr lang="en-US" dirty="0" err="1"/>
              <a:t>haber</a:t>
            </a:r>
            <a:r>
              <a:rPr lang="en-US" dirty="0"/>
              <a:t> visto </a:t>
            </a:r>
            <a:r>
              <a:rPr lang="en-US" dirty="0" err="1"/>
              <a:t>los</a:t>
            </a:r>
            <a:r>
              <a:rPr lang="en-US" dirty="0"/>
              <a:t> </a:t>
            </a:r>
            <a:r>
              <a:rPr lang="en-US" dirty="0" err="1"/>
              <a:t>comentarios</a:t>
            </a:r>
            <a:r>
              <a:rPr lang="en-US" dirty="0"/>
              <a:t> del </a:t>
            </a:r>
            <a:r>
              <a:rPr lang="en-US" dirty="0" err="1"/>
              <a:t>profesor</a:t>
            </a:r>
            <a:r>
              <a:rPr lang="en-US" dirty="0"/>
              <a:t> </a:t>
            </a:r>
            <a:r>
              <a:rPr lang="en-US" dirty="0" err="1"/>
              <a:t>sobre</a:t>
            </a:r>
            <a:r>
              <a:rPr lang="en-US" dirty="0"/>
              <a:t> </a:t>
            </a:r>
            <a:r>
              <a:rPr lang="en-US" dirty="0" err="1"/>
              <a:t>el</a:t>
            </a:r>
            <a:r>
              <a:rPr lang="en-US" dirty="0"/>
              <a:t> </a:t>
            </a:r>
            <a:r>
              <a:rPr lang="en-US" dirty="0" err="1"/>
              <a:t>mismo</a:t>
            </a:r>
            <a:r>
              <a:rPr lang="en-US" dirty="0"/>
              <a:t> </a:t>
            </a:r>
            <a:r>
              <a:rPr lang="en-US" dirty="0" err="1"/>
              <a:t>trabajo</a:t>
            </a:r>
            <a:r>
              <a:rPr lang="en-US" dirty="0"/>
              <a:t> para </a:t>
            </a:r>
            <a:r>
              <a:rPr lang="en-US" dirty="0" err="1"/>
              <a:t>poder</a:t>
            </a:r>
            <a:r>
              <a:rPr lang="en-US" dirty="0"/>
              <a:t> </a:t>
            </a:r>
            <a:r>
              <a:rPr lang="en-US" dirty="0" err="1"/>
              <a:t>compararlos</a:t>
            </a:r>
            <a:r>
              <a:rPr lang="en-US" dirty="0"/>
              <a:t> con </a:t>
            </a:r>
            <a:r>
              <a:rPr lang="en-US" dirty="0" err="1"/>
              <a:t>los</a:t>
            </a:r>
            <a:r>
              <a:rPr lang="en-US" dirty="0"/>
              <a:t> </a:t>
            </a:r>
            <a:r>
              <a:rPr lang="en-US" dirty="0" err="1"/>
              <a:t>comentarios</a:t>
            </a:r>
            <a:r>
              <a:rPr lang="en-US" dirty="0"/>
              <a:t> que </a:t>
            </a:r>
            <a:r>
              <a:rPr lang="en-US" dirty="0" err="1"/>
              <a:t>dieron</a:t>
            </a:r>
            <a:r>
              <a:rPr lang="en-US" dirty="0"/>
              <a:t>.</a:t>
            </a:r>
          </a:p>
          <a:p>
            <a:r>
              <a:rPr lang="en-US" dirty="0" err="1"/>
              <a:t>Esta</a:t>
            </a:r>
            <a:r>
              <a:rPr lang="en-US" dirty="0"/>
              <a:t> es </a:t>
            </a:r>
            <a:r>
              <a:rPr lang="en-US" dirty="0" err="1"/>
              <a:t>una</a:t>
            </a:r>
            <a:r>
              <a:rPr lang="en-US" dirty="0"/>
              <a:t> idea que </a:t>
            </a:r>
            <a:r>
              <a:rPr lang="en-US" dirty="0" err="1"/>
              <a:t>podría</a:t>
            </a:r>
            <a:r>
              <a:rPr lang="en-US" dirty="0"/>
              <a:t> </a:t>
            </a:r>
            <a:r>
              <a:rPr lang="en-US" dirty="0" err="1"/>
              <a:t>incorporarse</a:t>
            </a:r>
            <a:r>
              <a:rPr lang="en-US" dirty="0"/>
              <a:t> </a:t>
            </a:r>
            <a:r>
              <a:rPr lang="en-US" dirty="0" err="1"/>
              <a:t>después</a:t>
            </a:r>
            <a:r>
              <a:rPr lang="en-US" dirty="0"/>
              <a:t> de la </a:t>
            </a:r>
            <a:r>
              <a:rPr lang="en-US" dirty="0" err="1"/>
              <a:t>revisión</a:t>
            </a:r>
            <a:r>
              <a:rPr lang="en-US" dirty="0"/>
              <a:t> para </a:t>
            </a:r>
            <a:r>
              <a:rPr lang="en-US" dirty="0" err="1"/>
              <a:t>evitar</a:t>
            </a:r>
            <a:r>
              <a:rPr lang="en-US" dirty="0"/>
              <a:t> que </a:t>
            </a:r>
            <a:r>
              <a:rPr lang="en-US" dirty="0" err="1"/>
              <a:t>el</a:t>
            </a:r>
            <a:r>
              <a:rPr lang="en-US" dirty="0"/>
              <a:t> </a:t>
            </a:r>
            <a:r>
              <a:rPr lang="en-US" dirty="0" err="1"/>
              <a:t>acceso</a:t>
            </a:r>
            <a:r>
              <a:rPr lang="en-US" dirty="0"/>
              <a:t> a la </a:t>
            </a:r>
            <a:r>
              <a:rPr lang="en-US" dirty="0" err="1"/>
              <a:t>retroalimentación</a:t>
            </a:r>
            <a:r>
              <a:rPr lang="en-US" dirty="0"/>
              <a:t> del maestro </a:t>
            </a:r>
            <a:r>
              <a:rPr lang="en-US" dirty="0" err="1"/>
              <a:t>influya</a:t>
            </a:r>
            <a:r>
              <a:rPr lang="en-US" dirty="0"/>
              <a:t> </a:t>
            </a:r>
            <a:r>
              <a:rPr lang="en-US" dirty="0" err="1"/>
              <a:t>en</a:t>
            </a:r>
            <a:r>
              <a:rPr lang="en-US" dirty="0"/>
              <a:t> la </a:t>
            </a:r>
            <a:r>
              <a:rPr lang="en-US" dirty="0" err="1"/>
              <a:t>retroalimentación</a:t>
            </a:r>
            <a:r>
              <a:rPr lang="en-US" dirty="0"/>
              <a:t> </a:t>
            </a:r>
            <a:r>
              <a:rPr lang="en-US" dirty="0" err="1"/>
              <a:t>proporcionada</a:t>
            </a:r>
            <a:r>
              <a:rPr lang="en-US" dirty="0"/>
              <a:t> </a:t>
            </a:r>
            <a:r>
              <a:rPr lang="en-US" dirty="0" err="1"/>
              <a:t>por</a:t>
            </a:r>
            <a:r>
              <a:rPr lang="en-US" dirty="0"/>
              <a:t> </a:t>
            </a:r>
            <a:r>
              <a:rPr lang="en-US" dirty="0" err="1"/>
              <a:t>el</a:t>
            </a:r>
            <a:r>
              <a:rPr lang="en-US" dirty="0"/>
              <a:t> </a:t>
            </a:r>
            <a:r>
              <a:rPr lang="en-US" dirty="0" err="1"/>
              <a:t>estudiante</a:t>
            </a:r>
            <a:r>
              <a:rPr lang="en-US" dirty="0"/>
              <a:t>.</a:t>
            </a:r>
          </a:p>
        </p:txBody>
      </p:sp>
    </p:spTree>
    <p:extLst>
      <p:ext uri="{BB962C8B-B14F-4D97-AF65-F5344CB8AC3E}">
        <p14:creationId xmlns:p14="http://schemas.microsoft.com/office/powerpoint/2010/main" val="275784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D414-281A-04DB-3747-5D2DE781FB80}"/>
              </a:ext>
            </a:extLst>
          </p:cNvPr>
          <p:cNvSpPr>
            <a:spLocks noGrp="1"/>
          </p:cNvSpPr>
          <p:nvPr>
            <p:ph type="title"/>
          </p:nvPr>
        </p:nvSpPr>
        <p:spPr/>
        <p:txBody>
          <a:bodyPr/>
          <a:lstStyle/>
          <a:p>
            <a:r>
              <a:rPr lang="en-US" dirty="0"/>
              <a:t>References/</a:t>
            </a:r>
            <a:r>
              <a:rPr lang="en-US" dirty="0" err="1"/>
              <a:t>Referencias</a:t>
            </a:r>
            <a:endParaRPr lang="en-US" dirty="0"/>
          </a:p>
        </p:txBody>
      </p:sp>
      <p:sp>
        <p:nvSpPr>
          <p:cNvPr id="3" name="Content Placeholder 2">
            <a:extLst>
              <a:ext uri="{FF2B5EF4-FFF2-40B4-BE49-F238E27FC236}">
                <a16:creationId xmlns:a16="http://schemas.microsoft.com/office/drawing/2014/main" id="{DBD0EAD6-A310-9417-839D-1C7F822CD659}"/>
              </a:ext>
            </a:extLst>
          </p:cNvPr>
          <p:cNvSpPr>
            <a:spLocks noGrp="1"/>
          </p:cNvSpPr>
          <p:nvPr>
            <p:ph idx="1"/>
          </p:nvPr>
        </p:nvSpPr>
        <p:spPr>
          <a:xfrm>
            <a:off x="1141412" y="1828800"/>
            <a:ext cx="9905999" cy="4622800"/>
          </a:xfrm>
        </p:spPr>
        <p:txBody>
          <a:bodyPr>
            <a:normAutofit fontScale="55000" lnSpcReduction="20000"/>
          </a:bodyPr>
          <a:lstStyle/>
          <a:p>
            <a:r>
              <a:rPr lang="en-GB" dirty="0" err="1"/>
              <a:t>ArchMilller</a:t>
            </a:r>
            <a:r>
              <a:rPr lang="en-GB" dirty="0"/>
              <a:t>, A., </a:t>
            </a:r>
            <a:r>
              <a:rPr lang="en-GB" dirty="0" err="1"/>
              <a:t>Fieberg</a:t>
            </a:r>
            <a:r>
              <a:rPr lang="en-GB" dirty="0"/>
              <a:t>, J., Walker, J. And Holm, N. (2017) Group peer assessment for summative evaluation in graduate-level statistics courses for ecologists. </a:t>
            </a:r>
            <a:r>
              <a:rPr lang="en-GB" i="1" dirty="0"/>
              <a:t>Assessment &amp; Evaluation in Higher Education, 42(8), </a:t>
            </a:r>
            <a:r>
              <a:rPr lang="en-GB" dirty="0"/>
              <a:t>1208-1220 </a:t>
            </a:r>
            <a:endParaRPr lang="en-GB" u="sng" dirty="0"/>
          </a:p>
          <a:p>
            <a:r>
              <a:rPr lang="en-GB" dirty="0"/>
              <a:t>Carlsson </a:t>
            </a:r>
            <a:r>
              <a:rPr lang="en-GB" dirty="0" err="1"/>
              <a:t>Hauff</a:t>
            </a:r>
            <a:r>
              <a:rPr lang="en-GB" dirty="0"/>
              <a:t>, J.  and Nilsson, J. (2021) Students’ experience of making and receiving peer assessment: the effect of self-assessed knowledge and trust. </a:t>
            </a:r>
            <a:r>
              <a:rPr lang="en-GB" i="1" dirty="0"/>
              <a:t>Assessment &amp; Evaluation in Higher Education,</a:t>
            </a:r>
            <a:r>
              <a:rPr lang="en-GB" dirty="0"/>
              <a:t> 1–13. </a:t>
            </a:r>
          </a:p>
          <a:p>
            <a:r>
              <a:rPr lang="en-GB" dirty="0" err="1"/>
              <a:t>Dochy</a:t>
            </a:r>
            <a:r>
              <a:rPr lang="en-GB" dirty="0"/>
              <a:t>, F., </a:t>
            </a:r>
            <a:r>
              <a:rPr lang="en-GB" dirty="0" err="1"/>
              <a:t>Segers</a:t>
            </a:r>
            <a:r>
              <a:rPr lang="en-GB" dirty="0"/>
              <a:t>, M. and </a:t>
            </a:r>
            <a:r>
              <a:rPr lang="en-GB" dirty="0" err="1"/>
              <a:t>Sluijsmans</a:t>
            </a:r>
            <a:r>
              <a:rPr lang="en-GB" dirty="0"/>
              <a:t>, D. (1999) The use of self-, peer and co-assessment in higher education: A review. </a:t>
            </a:r>
            <a:r>
              <a:rPr lang="en-GB" i="1" dirty="0"/>
              <a:t>Studies in Higher education, 24(3), </a:t>
            </a:r>
            <a:r>
              <a:rPr lang="en-GB" dirty="0"/>
              <a:t>331–350. </a:t>
            </a:r>
            <a:r>
              <a:rPr lang="da-DK" dirty="0"/>
              <a:t>Hamer, J., Kell, C., &amp; </a:t>
            </a:r>
            <a:r>
              <a:rPr lang="da-DK" dirty="0" err="1"/>
              <a:t>Spence</a:t>
            </a:r>
            <a:r>
              <a:rPr lang="da-DK" dirty="0"/>
              <a:t>, F. (2007). </a:t>
            </a:r>
            <a:r>
              <a:rPr lang="en-GB" dirty="0"/>
              <a:t>Peer assessment using </a:t>
            </a:r>
            <a:r>
              <a:rPr lang="en-GB" dirty="0" err="1"/>
              <a:t>Aropä</a:t>
            </a:r>
            <a:r>
              <a:rPr lang="en-GB" dirty="0"/>
              <a:t>. In </a:t>
            </a:r>
            <a:r>
              <a:rPr lang="en-GB" i="1" dirty="0"/>
              <a:t>Proceedings of the ninth Australasian conference on Computing Education, 66</a:t>
            </a:r>
            <a:r>
              <a:rPr lang="en-GB" dirty="0"/>
              <a:t>(43-54).</a:t>
            </a:r>
          </a:p>
          <a:p>
            <a:r>
              <a:rPr lang="en-GB" dirty="0"/>
              <a:t>Nicol, D. (2019). Reconceptualising feedback as an internal not an external process. </a:t>
            </a:r>
            <a:r>
              <a:rPr lang="en-GB" i="1" dirty="0"/>
              <a:t>Italian Journal of Educational Research</a:t>
            </a:r>
            <a:r>
              <a:rPr lang="en-GB" dirty="0"/>
              <a:t>, 71-84.</a:t>
            </a:r>
          </a:p>
          <a:p>
            <a:r>
              <a:rPr lang="en-GB" dirty="0"/>
              <a:t>Nicol, D., and McCallum, S. (2022). Making internal feedback explicit: exploiting the multiple comparisons that occur during peer review,  </a:t>
            </a:r>
            <a:r>
              <a:rPr lang="en-GB" i="1" dirty="0"/>
              <a:t>Assessment &amp; Evaluation in Higher Education</a:t>
            </a:r>
            <a:r>
              <a:rPr lang="en-GB" dirty="0"/>
              <a:t>, </a:t>
            </a:r>
            <a:r>
              <a:rPr lang="en-GB" i="1" dirty="0"/>
              <a:t>47</a:t>
            </a:r>
            <a:r>
              <a:rPr lang="en-GB" dirty="0"/>
              <a:t>(3), 424-443. </a:t>
            </a:r>
          </a:p>
          <a:p>
            <a:r>
              <a:rPr lang="en-GB" dirty="0"/>
              <a:t>Pittard, M. Q. and </a:t>
            </a:r>
            <a:r>
              <a:rPr lang="en-GB" dirty="0" err="1"/>
              <a:t>Rayens</a:t>
            </a:r>
            <a:r>
              <a:rPr lang="en-GB" dirty="0"/>
              <a:t>, W. S. (2014) Using calibrated peer review™ in introductory statistics courses. </a:t>
            </a:r>
            <a:r>
              <a:rPr lang="en-GB" i="1" dirty="0"/>
              <a:t>In Proceedings of the International Conference on Teaching Statistics</a:t>
            </a:r>
            <a:r>
              <a:rPr lang="en-GB" dirty="0"/>
              <a:t>, 1–4.</a:t>
            </a:r>
          </a:p>
          <a:p>
            <a:r>
              <a:rPr lang="en-GB" dirty="0"/>
              <a:t>Sun, D. L., Harris, N., Walther, G. and </a:t>
            </a:r>
            <a:r>
              <a:rPr lang="en-GB" dirty="0" err="1"/>
              <a:t>Baiocchi</a:t>
            </a:r>
            <a:r>
              <a:rPr lang="en-GB" dirty="0"/>
              <a:t>, M. (2015). Peer assessment enhances student learning: The results of a matched randomized crossover experiment in a college statistics class</a:t>
            </a:r>
            <a:r>
              <a:rPr lang="en-GB" i="1" dirty="0"/>
              <a:t>. </a:t>
            </a:r>
            <a:r>
              <a:rPr lang="en-GB" i="1" dirty="0" err="1"/>
              <a:t>PloS</a:t>
            </a:r>
            <a:r>
              <a:rPr lang="en-GB" i="1" dirty="0"/>
              <a:t> one, 10(12), </a:t>
            </a:r>
            <a:r>
              <a:rPr lang="en-GB" dirty="0"/>
              <a:t>e0143177. </a:t>
            </a:r>
          </a:p>
          <a:p>
            <a:r>
              <a:rPr lang="en-GB" dirty="0"/>
              <a:t>Topping, K. J. (2009) Peer assessment. </a:t>
            </a:r>
            <a:r>
              <a:rPr lang="en-GB" i="1" dirty="0"/>
              <a:t>Theory into practice, 48(1)</a:t>
            </a:r>
            <a:r>
              <a:rPr lang="en-GB" dirty="0"/>
              <a:t>, 20–27. </a:t>
            </a:r>
          </a:p>
          <a:p>
            <a:r>
              <a:rPr lang="en-GB" dirty="0"/>
              <a:t>Van Zundert, M., </a:t>
            </a:r>
            <a:r>
              <a:rPr lang="en-GB" dirty="0" err="1"/>
              <a:t>Sluijsmans</a:t>
            </a:r>
            <a:r>
              <a:rPr lang="en-GB" dirty="0"/>
              <a:t>, D. and Van </a:t>
            </a:r>
            <a:r>
              <a:rPr lang="en-GB" dirty="0" err="1"/>
              <a:t>Merriënboer</a:t>
            </a:r>
            <a:r>
              <a:rPr lang="en-GB" dirty="0"/>
              <a:t>, J. (2010) Effective peer assessment processes: Research findings and future directions</a:t>
            </a:r>
            <a:r>
              <a:rPr lang="en-GB" i="1" dirty="0"/>
              <a:t>. Learning and instruction, 20(4)</a:t>
            </a:r>
            <a:r>
              <a:rPr lang="en-GB" dirty="0"/>
              <a:t>, 270–279. </a:t>
            </a:r>
            <a:endParaRPr lang="en-US" dirty="0"/>
          </a:p>
        </p:txBody>
      </p:sp>
    </p:spTree>
    <p:extLst>
      <p:ext uri="{BB962C8B-B14F-4D97-AF65-F5344CB8AC3E}">
        <p14:creationId xmlns:p14="http://schemas.microsoft.com/office/powerpoint/2010/main" val="1572578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38" name="Group 9">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39" name="Rectangle 10">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6="http://schemas.microsoft.com/office/drawing/2014/main" xmlns:a14="http://schemas.microsoft.com/office/drawing/2010/main" xmlns:p14="http://schemas.microsoft.com/office/powerpoint/2010/main" xmlns="">
                  <a:solidFill>
                    <a:srgbClr val="FFFFFF"/>
                  </a:solidFill>
                </a14:hiddenFill>
              </a:ext>
            </a:extLst>
          </p:spPr>
        </p:pic>
      </p:grpSp>
      <p:pic>
        <p:nvPicPr>
          <p:cNvPr id="5" name="Picture 4">
            <a:extLst>
              <a:ext uri="{FF2B5EF4-FFF2-40B4-BE49-F238E27FC236}">
                <a16:creationId xmlns:a16="http://schemas.microsoft.com/office/drawing/2014/main" id="{1461629F-3068-49C9-E960-F5172E7B48DF}"/>
              </a:ext>
            </a:extLst>
          </p:cNvPr>
          <p:cNvPicPr>
            <a:picLocks noChangeAspect="1"/>
          </p:cNvPicPr>
          <p:nvPr/>
        </p:nvPicPr>
        <p:blipFill rotWithShape="1">
          <a:blip r:embed="rId4">
            <a:alphaModFix amt="30000"/>
          </a:blip>
          <a:srcRect t="17389" b="5269"/>
          <a:stretch/>
        </p:blipFill>
        <p:spPr>
          <a:xfrm>
            <a:off x="-2" y="10"/>
            <a:ext cx="12188389" cy="6857990"/>
          </a:xfrm>
          <a:prstGeom prst="rect">
            <a:avLst/>
          </a:prstGeom>
        </p:spPr>
      </p:pic>
      <p:grpSp>
        <p:nvGrpSpPr>
          <p:cNvPr id="40" name="Group 13">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41"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8"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9"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0"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1"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2"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3"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4"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5"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6"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27"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8"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9"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0"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1"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2"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3"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4"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5"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6"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BD299FAD-1A58-5F0A-6277-6447C13CBAF2}"/>
              </a:ext>
            </a:extLst>
          </p:cNvPr>
          <p:cNvSpPr>
            <a:spLocks noGrp="1"/>
          </p:cNvSpPr>
          <p:nvPr>
            <p:ph type="ctrTitle"/>
          </p:nvPr>
        </p:nvSpPr>
        <p:spPr>
          <a:xfrm>
            <a:off x="2667000" y="2328334"/>
            <a:ext cx="6858000" cy="1367896"/>
          </a:xfrm>
        </p:spPr>
        <p:txBody>
          <a:bodyPr>
            <a:normAutofit fontScale="90000"/>
          </a:bodyPr>
          <a:lstStyle/>
          <a:p>
            <a:pPr algn="ctr"/>
            <a:r>
              <a:rPr lang="en-US" dirty="0"/>
              <a:t>Thank you!/</a:t>
            </a:r>
            <a:br>
              <a:rPr lang="en-GB" dirty="0"/>
            </a:br>
            <a:r>
              <a:rPr lang="en-GB" dirty="0"/>
              <a:t>¡Gracias!</a:t>
            </a:r>
            <a:endParaRPr lang="en-US" dirty="0"/>
          </a:p>
        </p:txBody>
      </p:sp>
      <p:sp>
        <p:nvSpPr>
          <p:cNvPr id="3" name="Subtitle 2">
            <a:extLst>
              <a:ext uri="{FF2B5EF4-FFF2-40B4-BE49-F238E27FC236}">
                <a16:creationId xmlns:a16="http://schemas.microsoft.com/office/drawing/2014/main" id="{74A105FD-3906-1289-E2AF-5AA37F254EAD}"/>
              </a:ext>
            </a:extLst>
          </p:cNvPr>
          <p:cNvSpPr>
            <a:spLocks noGrp="1"/>
          </p:cNvSpPr>
          <p:nvPr>
            <p:ph type="subTitle" idx="1"/>
          </p:nvPr>
        </p:nvSpPr>
        <p:spPr>
          <a:xfrm>
            <a:off x="2667001" y="3602038"/>
            <a:ext cx="6857999" cy="953029"/>
          </a:xfrm>
        </p:spPr>
        <p:txBody>
          <a:bodyPr>
            <a:normAutofit/>
          </a:bodyPr>
          <a:lstStyle/>
          <a:p>
            <a:pPr algn="ctr"/>
            <a:r>
              <a:rPr lang="en-US" dirty="0"/>
              <a:t>Any questions?/</a:t>
            </a:r>
            <a:br>
              <a:rPr lang="en-GB" dirty="0"/>
            </a:br>
            <a:r>
              <a:rPr lang="en-GB" dirty="0"/>
              <a:t>¿</a:t>
            </a:r>
            <a:r>
              <a:rPr lang="en-GB" dirty="0" err="1"/>
              <a:t>Alguna</a:t>
            </a:r>
            <a:r>
              <a:rPr lang="en-GB" dirty="0"/>
              <a:t> </a:t>
            </a:r>
            <a:r>
              <a:rPr lang="en-GB" dirty="0" err="1"/>
              <a:t>pregunta</a:t>
            </a:r>
            <a:r>
              <a:rPr lang="en-GB" dirty="0"/>
              <a:t>?</a:t>
            </a:r>
            <a:endParaRPr lang="en-US" dirty="0"/>
          </a:p>
        </p:txBody>
      </p:sp>
    </p:spTree>
    <p:extLst>
      <p:ext uri="{BB962C8B-B14F-4D97-AF65-F5344CB8AC3E}">
        <p14:creationId xmlns:p14="http://schemas.microsoft.com/office/powerpoint/2010/main" val="293266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221</TotalTime>
  <Words>2617</Words>
  <Application>Microsoft Macintosh PowerPoint</Application>
  <PresentationFormat>Widescreen</PresentationFormat>
  <Paragraphs>134</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Tw Cen MT</vt:lpstr>
      <vt:lpstr>Circuit</vt:lpstr>
      <vt:lpstr>Investigating perceived student learning from peer review  Investigar el aprendizaje estudiantil percibido a partir de la revisión por pares</vt:lpstr>
      <vt:lpstr>Introduction/Introducción</vt:lpstr>
      <vt:lpstr>Introduction/Introducción</vt:lpstr>
      <vt:lpstr>Study Design/Diseño del estudio</vt:lpstr>
      <vt:lpstr>Study design/Diseño del estudio</vt:lpstr>
      <vt:lpstr>Study design/Diseño del estudio</vt:lpstr>
      <vt:lpstr>The questionnaire/El cuestionario </vt:lpstr>
      <vt:lpstr>The questionnaire/El cuestionario</vt:lpstr>
      <vt:lpstr>The questionnaire/El cuestionario</vt:lpstr>
      <vt:lpstr>Results/Resultados</vt:lpstr>
      <vt:lpstr>Results/Resultados</vt:lpstr>
      <vt:lpstr>Results/Resultados</vt:lpstr>
      <vt:lpstr>Results/Resultados</vt:lpstr>
      <vt:lpstr>Discussion/Discusión</vt:lpstr>
      <vt:lpstr>Discussion/Discusión</vt:lpstr>
      <vt:lpstr>References/Referencias</vt:lpstr>
      <vt:lpstr>Thank you!/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Accessiblility for ODL course notes</dc:title>
  <dc:creator>Craig Alexander</dc:creator>
  <cp:lastModifiedBy>Craig Alexander</cp:lastModifiedBy>
  <cp:revision>1</cp:revision>
  <dcterms:created xsi:type="dcterms:W3CDTF">2022-08-30T10:09:13Z</dcterms:created>
  <dcterms:modified xsi:type="dcterms:W3CDTF">2022-09-12T17:30:12Z</dcterms:modified>
</cp:coreProperties>
</file>